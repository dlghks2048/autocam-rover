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3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5143500" cx="9144000"/>
  <p:notesSz cx="6858000" cy="9144000"/>
  <p:embeddedFontLst>
    <p:embeddedFont>
      <p:font typeface="Lato"/>
      <p:regular r:id="rId24"/>
      <p:bold r:id="rId25"/>
      <p:italic r:id="rId26"/>
      <p:boldItalic r:id="rId27"/>
    </p:embeddedFont>
    <p:embeddedFont>
      <p:font typeface="Poppins Medium"/>
      <p:regular r:id="rId28"/>
      <p:bold r:id="rId29"/>
      <p:italic r:id="rId30"/>
      <p:boldItalic r:id="rId31"/>
    </p:embeddedFont>
    <p:embeddedFont>
      <p:font typeface="Poppins SemiBold"/>
      <p:regular r:id="rId32"/>
      <p:bold r:id="rId33"/>
      <p:italic r:id="rId34"/>
      <p:boldItalic r:id="rId3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Lato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Lato-italic.fntdata"/><Relationship Id="rId25" Type="http://schemas.openxmlformats.org/officeDocument/2006/relationships/font" Target="fonts/Lato-bold.fntdata"/><Relationship Id="rId28" Type="http://schemas.openxmlformats.org/officeDocument/2006/relationships/font" Target="fonts/PoppinsMedium-regular.fntdata"/><Relationship Id="rId27" Type="http://schemas.openxmlformats.org/officeDocument/2006/relationships/font" Target="fonts/Lato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PoppinsMedium-bold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PoppinsMedium-boldItalic.fntdata"/><Relationship Id="rId30" Type="http://schemas.openxmlformats.org/officeDocument/2006/relationships/font" Target="fonts/PoppinsMedium-italic.fntdata"/><Relationship Id="rId11" Type="http://schemas.openxmlformats.org/officeDocument/2006/relationships/slide" Target="slides/slide6.xml"/><Relationship Id="rId33" Type="http://schemas.openxmlformats.org/officeDocument/2006/relationships/font" Target="fonts/PoppinsSemiBold-bold.fntdata"/><Relationship Id="rId10" Type="http://schemas.openxmlformats.org/officeDocument/2006/relationships/slide" Target="slides/slide5.xml"/><Relationship Id="rId32" Type="http://schemas.openxmlformats.org/officeDocument/2006/relationships/font" Target="fonts/PoppinsSemiBold-regular.fntdata"/><Relationship Id="rId13" Type="http://schemas.openxmlformats.org/officeDocument/2006/relationships/slide" Target="slides/slide8.xml"/><Relationship Id="rId35" Type="http://schemas.openxmlformats.org/officeDocument/2006/relationships/font" Target="fonts/PoppinsSemiBold-boldItalic.fntdata"/><Relationship Id="rId12" Type="http://schemas.openxmlformats.org/officeDocument/2006/relationships/slide" Target="slides/slide7.xml"/><Relationship Id="rId34" Type="http://schemas.openxmlformats.org/officeDocument/2006/relationships/font" Target="fonts/PoppinsSemiBold-italic.fntdata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ecdaec2260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" name="Google Shape;60;g3ecdaec2260_1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ecdaec2260_2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ecdaec2260_2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ecdaec2260_2_1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g3ecdaec2260_2_12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ecdaec2260_2_1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3ecdaec2260_2_1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ecdaec2260_2_7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3ecdaec2260_2_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ecdaec2260_2_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g3ecdaec2260_2_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3ecdaec2260_2_8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2" name="Google Shape;182;g3ecdaec2260_2_8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3ecdaec2260_2_9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" name="Google Shape;190;g3ecdaec2260_2_9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3ecdaec2260_2_2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7" name="Google Shape;197;g3ecdaec2260_2_2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ecdaec2260_2_2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3ecdaec2260_2_2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3ecdaec2260_2_2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3" name="Google Shape;213;g3ecdaec2260_2_2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3ecdaec2260_2_2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1" name="Google Shape;221;g3ecdaec2260_2_2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g3ecdbd3d9f4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9" name="Google Shape;229;g3ecdbd3d9f4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3ecdbd3d9f4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6" name="Google Shape;236;g3ecdbd3d9f4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3ecdaec2260_2_5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3ecdaec2260_2_5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g3ecdaec2260_2_5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6" name="Google Shape;256;g3ecdaec2260_2_5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3ecdaec2260_2_4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6" name="Google Shape;266;g3ecdaec2260_2_4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3ecdaec2260_2_4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8" name="Google Shape;298;g3ecdaec2260_2_48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빈 테마 1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빈 테마 2">
  <p:cSld name="BLANK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빈 테마 3">
  <p:cSld name="CUSTOM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4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buNone/>
              <a:defRPr sz="1300"/>
            </a:lvl1pPr>
            <a:lvl2pPr lvl="1">
              <a:buNone/>
              <a:defRPr sz="1300"/>
            </a:lvl2pPr>
            <a:lvl3pPr lvl="2">
              <a:buNone/>
              <a:defRPr sz="1300"/>
            </a:lvl3pPr>
            <a:lvl4pPr lvl="3">
              <a:buNone/>
              <a:defRPr sz="1300"/>
            </a:lvl4pPr>
            <a:lvl5pPr lvl="4">
              <a:buNone/>
              <a:defRPr sz="1300"/>
            </a:lvl5pPr>
            <a:lvl6pPr lvl="5">
              <a:buNone/>
              <a:defRPr sz="1300"/>
            </a:lvl6pPr>
            <a:lvl7pPr lvl="6">
              <a:buNone/>
              <a:defRPr sz="1300"/>
            </a:lvl7pPr>
            <a:lvl8pPr lvl="7">
              <a:buNone/>
              <a:defRPr sz="1300"/>
            </a:lvl8pPr>
            <a:lvl9pPr lvl="8">
              <a:buNone/>
              <a:defRPr sz="1300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빈 테마 4">
  <p:cSld name="CUSTOM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5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buNone/>
              <a:defRPr sz="1300"/>
            </a:lvl1pPr>
            <a:lvl2pPr lvl="1">
              <a:buNone/>
              <a:defRPr sz="1300"/>
            </a:lvl2pPr>
            <a:lvl3pPr lvl="2">
              <a:buNone/>
              <a:defRPr sz="1300"/>
            </a:lvl3pPr>
            <a:lvl4pPr lvl="3">
              <a:buNone/>
              <a:defRPr sz="1300"/>
            </a:lvl4pPr>
            <a:lvl5pPr lvl="4">
              <a:buNone/>
              <a:defRPr sz="1300"/>
            </a:lvl5pPr>
            <a:lvl6pPr lvl="5">
              <a:buNone/>
              <a:defRPr sz="1300"/>
            </a:lvl6pPr>
            <a:lvl7pPr lvl="6">
              <a:buNone/>
              <a:defRPr sz="1300"/>
            </a:lvl7pPr>
            <a:lvl8pPr lvl="7">
              <a:buNone/>
              <a:defRPr sz="1300"/>
            </a:lvl8pPr>
            <a:lvl9pPr lvl="8">
              <a:buNone/>
              <a:defRPr sz="1300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빈 테마 5">
  <p:cSld name="CUSTOM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6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buNone/>
              <a:defRPr sz="1300"/>
            </a:lvl1pPr>
            <a:lvl2pPr lvl="1">
              <a:buNone/>
              <a:defRPr sz="1300"/>
            </a:lvl2pPr>
            <a:lvl3pPr lvl="2">
              <a:buNone/>
              <a:defRPr sz="1300"/>
            </a:lvl3pPr>
            <a:lvl4pPr lvl="3">
              <a:buNone/>
              <a:defRPr sz="1300"/>
            </a:lvl4pPr>
            <a:lvl5pPr lvl="4">
              <a:buNone/>
              <a:defRPr sz="1300"/>
            </a:lvl5pPr>
            <a:lvl6pPr lvl="5">
              <a:buNone/>
              <a:defRPr sz="1300"/>
            </a:lvl6pPr>
            <a:lvl7pPr lvl="6">
              <a:buNone/>
              <a:defRPr sz="1300"/>
            </a:lvl7pPr>
            <a:lvl8pPr lvl="7">
              <a:buNone/>
              <a:defRPr sz="1300"/>
            </a:lvl8pPr>
            <a:lvl9pPr lvl="8">
              <a:buNone/>
              <a:defRPr sz="1300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2.xml"/><Relationship Id="rId12" Type="http://schemas.openxmlformats.org/officeDocument/2006/relationships/slideLayout" Target="../slideLayouts/slideLayout11.xml"/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9" Type="http://schemas.openxmlformats.org/officeDocument/2006/relationships/slideLayout" Target="../slideLayouts/slideLayout8.xml"/><Relationship Id="rId15" Type="http://schemas.openxmlformats.org/officeDocument/2006/relationships/slideLayout" Target="../slideLayouts/slideLayout14.xml"/><Relationship Id="rId14" Type="http://schemas.openxmlformats.org/officeDocument/2006/relationships/slideLayout" Target="../slideLayouts/slideLayout13.xml"/><Relationship Id="rId17" Type="http://schemas.openxmlformats.org/officeDocument/2006/relationships/theme" Target="../theme/theme1.xml"/><Relationship Id="rId16" Type="http://schemas.openxmlformats.org/officeDocument/2006/relationships/slideLayout" Target="../slideLayouts/slideLayout15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blipFill>
          <a:blip r:embed="rId1">
            <a:alphaModFix/>
          </a:blip>
          <a:stretch>
            <a:fillRect/>
          </a:stretch>
        </a:blip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13.png"/><Relationship Id="rId5" Type="http://schemas.openxmlformats.org/officeDocument/2006/relationships/image" Target="../media/image4.png"/><Relationship Id="rId6" Type="http://schemas.openxmlformats.org/officeDocument/2006/relationships/image" Target="../media/image14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2.png"/></Relationships>
</file>

<file path=ppt/slides/_rels/slide3.xml.rels><?xml version="1.0" encoding="UTF-8" standalone="yes"?><Relationships xmlns="http://schemas.openxmlformats.org/package/2006/relationships"><Relationship Id="rId11" Type="http://schemas.openxmlformats.org/officeDocument/2006/relationships/image" Target="../media/image16.png"/><Relationship Id="rId10" Type="http://schemas.openxmlformats.org/officeDocument/2006/relationships/image" Target="../media/image21.png"/><Relationship Id="rId13" Type="http://schemas.openxmlformats.org/officeDocument/2006/relationships/image" Target="../media/image23.jpg"/><Relationship Id="rId12" Type="http://schemas.openxmlformats.org/officeDocument/2006/relationships/image" Target="../media/image19.jpg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9.png"/><Relationship Id="rId4" Type="http://schemas.openxmlformats.org/officeDocument/2006/relationships/image" Target="../media/image2.png"/><Relationship Id="rId9" Type="http://schemas.openxmlformats.org/officeDocument/2006/relationships/image" Target="../media/image20.png"/><Relationship Id="rId15" Type="http://schemas.openxmlformats.org/officeDocument/2006/relationships/image" Target="../media/image26.jpg"/><Relationship Id="rId14" Type="http://schemas.openxmlformats.org/officeDocument/2006/relationships/image" Target="../media/image18.jpg"/><Relationship Id="rId5" Type="http://schemas.openxmlformats.org/officeDocument/2006/relationships/image" Target="../media/image3.png"/><Relationship Id="rId6" Type="http://schemas.openxmlformats.org/officeDocument/2006/relationships/image" Target="../media/image17.png"/><Relationship Id="rId7" Type="http://schemas.openxmlformats.org/officeDocument/2006/relationships/image" Target="../media/image8.png"/><Relationship Id="rId8" Type="http://schemas.openxmlformats.org/officeDocument/2006/relationships/image" Target="../media/image15.png"/></Relationships>
</file>

<file path=ppt/slides/_rels/slide4.xml.rels><?xml version="1.0" encoding="UTF-8" standalone="yes"?><Relationships xmlns="http://schemas.openxmlformats.org/package/2006/relationships"><Relationship Id="rId11" Type="http://schemas.openxmlformats.org/officeDocument/2006/relationships/image" Target="../media/image26.jpg"/><Relationship Id="rId10" Type="http://schemas.openxmlformats.org/officeDocument/2006/relationships/image" Target="../media/image31.jpg"/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2.png"/><Relationship Id="rId4" Type="http://schemas.openxmlformats.org/officeDocument/2006/relationships/image" Target="../media/image28.png"/><Relationship Id="rId9" Type="http://schemas.openxmlformats.org/officeDocument/2006/relationships/image" Target="../media/image33.jpg"/><Relationship Id="rId5" Type="http://schemas.openxmlformats.org/officeDocument/2006/relationships/image" Target="../media/image24.png"/><Relationship Id="rId6" Type="http://schemas.openxmlformats.org/officeDocument/2006/relationships/image" Target="../media/image40.png"/><Relationship Id="rId7" Type="http://schemas.openxmlformats.org/officeDocument/2006/relationships/image" Target="../media/image32.jpg"/><Relationship Id="rId8" Type="http://schemas.openxmlformats.org/officeDocument/2006/relationships/image" Target="../media/image27.jp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0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9.png"/><Relationship Id="rId4" Type="http://schemas.openxmlformats.org/officeDocument/2006/relationships/image" Target="../media/image6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6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://www.youtube.com/watch?v=CZg4cTJFEIw" TargetMode="External"/><Relationship Id="rId4" Type="http://schemas.openxmlformats.org/officeDocument/2006/relationships/image" Target="../media/image41.jp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9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3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9.png"/></Relationships>
</file>

<file path=ppt/slides/_rels/slide17.xml.rels><?xml version="1.0" encoding="UTF-8" standalone="yes"?><Relationships xmlns="http://schemas.openxmlformats.org/package/2006/relationships"><Relationship Id="rId11" Type="http://schemas.openxmlformats.org/officeDocument/2006/relationships/image" Target="../media/image61.png"/><Relationship Id="rId10" Type="http://schemas.openxmlformats.org/officeDocument/2006/relationships/image" Target="../media/image44.png"/><Relationship Id="rId13" Type="http://schemas.openxmlformats.org/officeDocument/2006/relationships/image" Target="../media/image52.png"/><Relationship Id="rId12" Type="http://schemas.openxmlformats.org/officeDocument/2006/relationships/image" Target="../media/image56.png"/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5.png"/><Relationship Id="rId4" Type="http://schemas.openxmlformats.org/officeDocument/2006/relationships/image" Target="../media/image59.png"/><Relationship Id="rId9" Type="http://schemas.openxmlformats.org/officeDocument/2006/relationships/image" Target="../media/image54.png"/><Relationship Id="rId15" Type="http://schemas.openxmlformats.org/officeDocument/2006/relationships/image" Target="../media/image57.png"/><Relationship Id="rId14" Type="http://schemas.openxmlformats.org/officeDocument/2006/relationships/image" Target="../media/image62.png"/><Relationship Id="rId17" Type="http://schemas.openxmlformats.org/officeDocument/2006/relationships/image" Target="../media/image60.png"/><Relationship Id="rId16" Type="http://schemas.openxmlformats.org/officeDocument/2006/relationships/image" Target="../media/image65.png"/><Relationship Id="rId5" Type="http://schemas.openxmlformats.org/officeDocument/2006/relationships/image" Target="../media/image38.png"/><Relationship Id="rId6" Type="http://schemas.openxmlformats.org/officeDocument/2006/relationships/image" Target="../media/image42.png"/><Relationship Id="rId18" Type="http://schemas.openxmlformats.org/officeDocument/2006/relationships/image" Target="../media/image48.jpg"/><Relationship Id="rId7" Type="http://schemas.openxmlformats.org/officeDocument/2006/relationships/image" Target="../media/image45.png"/><Relationship Id="rId8" Type="http://schemas.openxmlformats.org/officeDocument/2006/relationships/image" Target="../media/image5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Relationship Id="rId4" Type="http://schemas.openxmlformats.org/officeDocument/2006/relationships/image" Target="../media/image13.png"/><Relationship Id="rId5" Type="http://schemas.openxmlformats.org/officeDocument/2006/relationships/image" Target="../media/image66.png"/><Relationship Id="rId6" Type="http://schemas.openxmlformats.org/officeDocument/2006/relationships/image" Target="../media/image14.png"/><Relationship Id="rId7" Type="http://schemas.openxmlformats.org/officeDocument/2006/relationships/image" Target="../media/image6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D5E5FF"/>
        </a:solidFill>
      </p:bgPr>
    </p:bg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Google Shape;62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9525" y="2571750"/>
            <a:ext cx="9153526" cy="2586038"/>
          </a:xfrm>
          <a:prstGeom prst="rect">
            <a:avLst/>
          </a:prstGeom>
          <a:noFill/>
          <a:ln>
            <a:noFill/>
          </a:ln>
        </p:spPr>
      </p:pic>
      <p:pic>
        <p:nvPicPr>
          <p:cNvPr id="63" name="Google Shape;63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09563" y="285750"/>
            <a:ext cx="8520113" cy="4576763"/>
          </a:xfrm>
          <a:prstGeom prst="rect">
            <a:avLst/>
          </a:prstGeom>
          <a:noFill/>
          <a:ln>
            <a:noFill/>
          </a:ln>
        </p:spPr>
      </p:pic>
      <p:pic>
        <p:nvPicPr>
          <p:cNvPr id="64" name="Google Shape;64;p1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319963" y="242888"/>
            <a:ext cx="1285875" cy="685800"/>
          </a:xfrm>
          <a:prstGeom prst="rect">
            <a:avLst/>
          </a:prstGeom>
          <a:noFill/>
          <a:ln>
            <a:noFill/>
          </a:ln>
        </p:spPr>
      </p:pic>
      <p:sp>
        <p:nvSpPr>
          <p:cNvPr id="65" name="Google Shape;65;p17"/>
          <p:cNvSpPr txBox="1"/>
          <p:nvPr/>
        </p:nvSpPr>
        <p:spPr>
          <a:xfrm>
            <a:off x="7386638" y="381000"/>
            <a:ext cx="1161900" cy="36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775" lIns="0" spcFirstLastPara="1" rIns="0" wrap="square" tIns="6775">
            <a:noAutofit/>
          </a:bodyPr>
          <a:lstStyle/>
          <a:p>
            <a:pPr indent="0" lvl="0" marL="0" marR="0" rtl="0" algn="ctr">
              <a:lnSpc>
                <a:spcPct val="1078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>
                <a:solidFill>
                  <a:srgbClr val="FFFFFF"/>
                </a:solidFill>
              </a:rPr>
              <a:t>프로젝트</a:t>
            </a:r>
            <a:endParaRPr sz="1100">
              <a:solidFill>
                <a:srgbClr val="FFFFFF"/>
              </a:solidFill>
            </a:endParaRPr>
          </a:p>
          <a:p>
            <a:pPr indent="0" lvl="0" marL="0" marR="0" rtl="0" algn="ctr">
              <a:lnSpc>
                <a:spcPct val="1078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>
                <a:solidFill>
                  <a:srgbClr val="FFFFFF"/>
                </a:solidFill>
              </a:rPr>
              <a:t>계획</a:t>
            </a:r>
            <a:endParaRPr sz="1100">
              <a:solidFill>
                <a:srgbClr val="FFFFFF"/>
              </a:solidFill>
            </a:endParaRPr>
          </a:p>
        </p:txBody>
      </p:sp>
      <p:sp>
        <p:nvSpPr>
          <p:cNvPr id="66" name="Google Shape;66;p17"/>
          <p:cNvSpPr txBox="1"/>
          <p:nvPr/>
        </p:nvSpPr>
        <p:spPr>
          <a:xfrm>
            <a:off x="747713" y="4248150"/>
            <a:ext cx="21432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1275">
            <a:spAutoFit/>
          </a:bodyPr>
          <a:lstStyle/>
          <a:p>
            <a:pPr indent="0" lvl="0" marL="0" marR="0" rtl="0" algn="l">
              <a:lnSpc>
                <a:spcPct val="11453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 sz="1000">
                <a:solidFill>
                  <a:srgbClr val="2C2C2C"/>
                </a:solidFill>
              </a:rPr>
              <a:t>조이환</a:t>
            </a:r>
            <a:endParaRPr sz="500"/>
          </a:p>
        </p:txBody>
      </p:sp>
      <p:pic>
        <p:nvPicPr>
          <p:cNvPr id="67" name="Google Shape;67;p1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386763" y="4419600"/>
            <a:ext cx="219075" cy="204787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7"/>
          <p:cNvSpPr txBox="1"/>
          <p:nvPr/>
        </p:nvSpPr>
        <p:spPr>
          <a:xfrm>
            <a:off x="747713" y="1437975"/>
            <a:ext cx="6445500" cy="64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0325" lIns="0" spcFirstLastPara="1" rIns="0" wrap="square" tIns="60325">
            <a:spAutoFit/>
          </a:bodyPr>
          <a:lstStyle/>
          <a:p>
            <a:pPr indent="0" lvl="0" marL="0" marR="0" rtl="0" algn="l">
              <a:lnSpc>
                <a:spcPct val="99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 sz="3400">
                <a:solidFill>
                  <a:srgbClr val="4A5BA3"/>
                </a:solidFill>
              </a:rPr>
              <a:t>AutoCam Rover</a:t>
            </a:r>
            <a:endParaRPr sz="3400"/>
          </a:p>
        </p:txBody>
      </p:sp>
      <p:sp>
        <p:nvSpPr>
          <p:cNvPr id="69" name="Google Shape;69;p17"/>
          <p:cNvSpPr txBox="1"/>
          <p:nvPr/>
        </p:nvSpPr>
        <p:spPr>
          <a:xfrm>
            <a:off x="747713" y="2077200"/>
            <a:ext cx="6183300" cy="866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spAutoFit/>
          </a:bodyPr>
          <a:lstStyle/>
          <a:p>
            <a:pPr indent="0" lvl="0" marL="0" rtl="0" algn="l">
              <a:lnSpc>
                <a:spcPct val="99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 sz="2600">
                <a:solidFill>
                  <a:srgbClr val="4A5BA3"/>
                </a:solidFill>
              </a:rPr>
              <a:t>이벤트 발생 위치를 찾아 촬영하는 ROS 기반 자율 카메라 로봇 </a:t>
            </a:r>
            <a:endParaRPr sz="2600"/>
          </a:p>
        </p:txBody>
      </p:sp>
      <p:sp>
        <p:nvSpPr>
          <p:cNvPr id="70" name="Google Shape;70;p17"/>
          <p:cNvSpPr txBox="1"/>
          <p:nvPr>
            <p:ph idx="12" type="sldNum"/>
          </p:nvPr>
        </p:nvSpPr>
        <p:spPr>
          <a:xfrm>
            <a:off x="8582621" y="4749892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>
                <a:solidFill>
                  <a:srgbClr val="1F1F1F"/>
                </a:solidFill>
              </a:rPr>
              <a:t>‹#›</a:t>
            </a:fld>
            <a:endParaRPr>
              <a:solidFill>
                <a:srgbClr val="1F1F1F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  <p:sp>
        <p:nvSpPr>
          <p:cNvPr id="76" name="Google Shape;76;p18"/>
          <p:cNvSpPr/>
          <p:nvPr/>
        </p:nvSpPr>
        <p:spPr>
          <a:xfrm>
            <a:off x="5095088" y="1129800"/>
            <a:ext cx="1573200" cy="1608900"/>
          </a:xfrm>
          <a:prstGeom prst="ellipse">
            <a:avLst/>
          </a:prstGeom>
          <a:solidFill>
            <a:srgbClr val="D5E5FF"/>
          </a:solidFill>
          <a:ln cap="flat" cmpd="sng" w="3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5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18"/>
          <p:cNvSpPr/>
          <p:nvPr/>
        </p:nvSpPr>
        <p:spPr>
          <a:xfrm>
            <a:off x="6700050" y="1129800"/>
            <a:ext cx="1573200" cy="1608900"/>
          </a:xfrm>
          <a:prstGeom prst="ellipse">
            <a:avLst/>
          </a:prstGeom>
          <a:solidFill>
            <a:srgbClr val="D5E5FF"/>
          </a:solidFill>
          <a:ln cap="flat" cmpd="sng" w="3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5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18"/>
          <p:cNvSpPr/>
          <p:nvPr/>
        </p:nvSpPr>
        <p:spPr>
          <a:xfrm>
            <a:off x="4287806" y="2810850"/>
            <a:ext cx="1573200" cy="1608900"/>
          </a:xfrm>
          <a:prstGeom prst="ellipse">
            <a:avLst/>
          </a:prstGeom>
          <a:solidFill>
            <a:srgbClr val="D5E5FF"/>
          </a:solidFill>
          <a:ln cap="flat" cmpd="sng" w="3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5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18"/>
          <p:cNvSpPr/>
          <p:nvPr/>
        </p:nvSpPr>
        <p:spPr>
          <a:xfrm>
            <a:off x="5895169" y="2810850"/>
            <a:ext cx="1573200" cy="1608900"/>
          </a:xfrm>
          <a:prstGeom prst="ellipse">
            <a:avLst/>
          </a:prstGeom>
          <a:solidFill>
            <a:srgbClr val="D5E5FF"/>
          </a:solidFill>
          <a:ln cap="flat" cmpd="sng" w="3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5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0" name="Google Shape;80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57600" y="1528763"/>
            <a:ext cx="1238250" cy="4763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18"/>
          <p:cNvSpPr/>
          <p:nvPr/>
        </p:nvSpPr>
        <p:spPr>
          <a:xfrm>
            <a:off x="3490125" y="1129800"/>
            <a:ext cx="1573200" cy="1608900"/>
          </a:xfrm>
          <a:prstGeom prst="ellipse">
            <a:avLst/>
          </a:prstGeom>
          <a:solidFill>
            <a:srgbClr val="D5E5FF"/>
          </a:solidFill>
          <a:ln cap="flat" cmpd="sng" w="3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5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18"/>
          <p:cNvSpPr txBox="1"/>
          <p:nvPr/>
        </p:nvSpPr>
        <p:spPr>
          <a:xfrm>
            <a:off x="4129088" y="1276350"/>
            <a:ext cx="290400" cy="18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350" lIns="0" spcFirstLastPara="1" rIns="0" wrap="square" tIns="6350">
            <a:noAutofit/>
          </a:bodyPr>
          <a:lstStyle/>
          <a:p>
            <a:pPr indent="0" lvl="0" marL="0" marR="0" rtl="0" algn="ctr">
              <a:lnSpc>
                <a:spcPct val="1078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1000" u="none" cap="none" strike="noStrike">
                <a:solidFill>
                  <a:srgbClr val="4A5BA3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01</a:t>
            </a:r>
            <a:endParaRPr sz="500"/>
          </a:p>
        </p:txBody>
      </p:sp>
      <p:sp>
        <p:nvSpPr>
          <p:cNvPr id="83" name="Google Shape;83;p18"/>
          <p:cNvSpPr txBox="1"/>
          <p:nvPr/>
        </p:nvSpPr>
        <p:spPr>
          <a:xfrm>
            <a:off x="3633788" y="1628775"/>
            <a:ext cx="1285800" cy="39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7300" lIns="0" spcFirstLastPara="1" rIns="0" wrap="square" tIns="7300">
            <a:noAutofit/>
          </a:bodyPr>
          <a:lstStyle/>
          <a:p>
            <a:pPr indent="0" lvl="0" marL="0" marR="0" rtl="0" algn="ctr">
              <a:lnSpc>
                <a:spcPct val="1078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>
                <a:solidFill>
                  <a:srgbClr val="00074E"/>
                </a:solidFill>
              </a:rPr>
              <a:t>목표</a:t>
            </a:r>
            <a:endParaRPr sz="500"/>
          </a:p>
        </p:txBody>
      </p:sp>
      <p:sp>
        <p:nvSpPr>
          <p:cNvPr id="84" name="Google Shape;84;p18"/>
          <p:cNvSpPr txBox="1"/>
          <p:nvPr/>
        </p:nvSpPr>
        <p:spPr>
          <a:xfrm>
            <a:off x="3605138" y="1984075"/>
            <a:ext cx="1343100" cy="37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285750" lvl="0" marL="457200" rtl="0" algn="l">
              <a:spcBef>
                <a:spcPts val="0"/>
              </a:spcBef>
              <a:spcAft>
                <a:spcPts val="0"/>
              </a:spcAft>
              <a:buClr>
                <a:srgbClr val="2C2C2C"/>
              </a:buClr>
              <a:buSzPts val="900"/>
              <a:buChar char="●"/>
            </a:pPr>
            <a:r>
              <a:rPr lang="ko" sz="900"/>
              <a:t>프로젝트의 목표</a:t>
            </a:r>
            <a:endParaRPr sz="900">
              <a:solidFill>
                <a:srgbClr val="2C2C2C"/>
              </a:solidFill>
            </a:endParaRPr>
          </a:p>
        </p:txBody>
      </p:sp>
      <p:pic>
        <p:nvPicPr>
          <p:cNvPr id="85" name="Google Shape;85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57600" y="3143250"/>
            <a:ext cx="1238250" cy="4763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8"/>
          <p:cNvSpPr txBox="1"/>
          <p:nvPr/>
        </p:nvSpPr>
        <p:spPr>
          <a:xfrm>
            <a:off x="4929169" y="2857538"/>
            <a:ext cx="290400" cy="18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350" lIns="0" spcFirstLastPara="1" rIns="0" wrap="square" tIns="6350">
            <a:noAutofit/>
          </a:bodyPr>
          <a:lstStyle/>
          <a:p>
            <a:pPr indent="0" lvl="0" marL="0" marR="0" rtl="0" algn="ctr">
              <a:lnSpc>
                <a:spcPct val="1078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1000" u="none" cap="none" strike="noStrike">
                <a:solidFill>
                  <a:srgbClr val="4A5BA3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04</a:t>
            </a:r>
            <a:endParaRPr sz="500"/>
          </a:p>
        </p:txBody>
      </p:sp>
      <p:sp>
        <p:nvSpPr>
          <p:cNvPr id="87" name="Google Shape;87;p18"/>
          <p:cNvSpPr txBox="1"/>
          <p:nvPr/>
        </p:nvSpPr>
        <p:spPr>
          <a:xfrm>
            <a:off x="4419581" y="3209963"/>
            <a:ext cx="1314600" cy="39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7300" lIns="0" spcFirstLastPara="1" rIns="0" wrap="square" tIns="7300">
            <a:noAutofit/>
          </a:bodyPr>
          <a:lstStyle/>
          <a:p>
            <a:pPr indent="0" lvl="0" marL="0" marR="0" rtl="0" algn="ctr">
              <a:lnSpc>
                <a:spcPct val="1078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>
                <a:solidFill>
                  <a:srgbClr val="00074E"/>
                </a:solidFill>
              </a:rPr>
              <a:t>구현 결과</a:t>
            </a:r>
            <a:endParaRPr sz="500"/>
          </a:p>
        </p:txBody>
      </p:sp>
      <p:sp>
        <p:nvSpPr>
          <p:cNvPr id="88" name="Google Shape;88;p18"/>
          <p:cNvSpPr txBox="1"/>
          <p:nvPr/>
        </p:nvSpPr>
        <p:spPr>
          <a:xfrm>
            <a:off x="4405294" y="3705263"/>
            <a:ext cx="1343100" cy="37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285750" lvl="0" marL="457200" rtl="0" algn="l">
              <a:spcBef>
                <a:spcPts val="0"/>
              </a:spcBef>
              <a:spcAft>
                <a:spcPts val="0"/>
              </a:spcAft>
              <a:buClr>
                <a:srgbClr val="2C2C2C"/>
              </a:buClr>
              <a:buSzPts val="900"/>
              <a:buChar char="●"/>
            </a:pPr>
            <a:r>
              <a:rPr lang="ko" sz="900">
                <a:solidFill>
                  <a:srgbClr val="2C2C2C"/>
                </a:solidFill>
              </a:rPr>
              <a:t>ROS</a:t>
            </a:r>
            <a:endParaRPr sz="900">
              <a:solidFill>
                <a:srgbClr val="2C2C2C"/>
              </a:solidFill>
            </a:endParaRPr>
          </a:p>
          <a:p>
            <a:pPr indent="-285750" lvl="0" marL="457200" rtl="0" algn="l">
              <a:spcBef>
                <a:spcPts val="0"/>
              </a:spcBef>
              <a:spcAft>
                <a:spcPts val="0"/>
              </a:spcAft>
              <a:buClr>
                <a:srgbClr val="2C2C2C"/>
              </a:buClr>
              <a:buSzPts val="900"/>
              <a:buChar char="●"/>
            </a:pPr>
            <a:r>
              <a:rPr lang="ko" sz="900">
                <a:solidFill>
                  <a:srgbClr val="2C2C2C"/>
                </a:solidFill>
              </a:rPr>
              <a:t>DB</a:t>
            </a:r>
            <a:endParaRPr sz="900">
              <a:solidFill>
                <a:srgbClr val="2C2C2C"/>
              </a:solidFill>
            </a:endParaRPr>
          </a:p>
          <a:p>
            <a:pPr indent="-285750" lvl="0" marL="457200" rtl="0" algn="l">
              <a:spcBef>
                <a:spcPts val="0"/>
              </a:spcBef>
              <a:spcAft>
                <a:spcPts val="0"/>
              </a:spcAft>
              <a:buClr>
                <a:srgbClr val="2C2C2C"/>
              </a:buClr>
              <a:buSzPts val="900"/>
              <a:buChar char="●"/>
            </a:pPr>
            <a:r>
              <a:rPr lang="ko" sz="900">
                <a:solidFill>
                  <a:srgbClr val="2C2C2C"/>
                </a:solidFill>
              </a:rPr>
              <a:t>Network</a:t>
            </a:r>
            <a:endParaRPr sz="900">
              <a:solidFill>
                <a:srgbClr val="2C2C2C"/>
              </a:solidFill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rgbClr val="2C2C2C"/>
              </a:solidFill>
            </a:endParaRPr>
          </a:p>
        </p:txBody>
      </p:sp>
      <p:pic>
        <p:nvPicPr>
          <p:cNvPr id="89" name="Google Shape;89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62563" y="1528763"/>
            <a:ext cx="1238250" cy="4763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18"/>
          <p:cNvSpPr txBox="1"/>
          <p:nvPr/>
        </p:nvSpPr>
        <p:spPr>
          <a:xfrm>
            <a:off x="5734050" y="1276350"/>
            <a:ext cx="290400" cy="18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350" lIns="0" spcFirstLastPara="1" rIns="0" wrap="square" tIns="6350">
            <a:noAutofit/>
          </a:bodyPr>
          <a:lstStyle/>
          <a:p>
            <a:pPr indent="0" lvl="0" marL="0" marR="0" rtl="0" algn="ctr">
              <a:lnSpc>
                <a:spcPct val="1078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1000" u="none" cap="none" strike="noStrike">
                <a:solidFill>
                  <a:srgbClr val="4A5BA3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02</a:t>
            </a:r>
            <a:endParaRPr sz="500"/>
          </a:p>
        </p:txBody>
      </p:sp>
      <p:sp>
        <p:nvSpPr>
          <p:cNvPr id="91" name="Google Shape;91;p18"/>
          <p:cNvSpPr txBox="1"/>
          <p:nvPr/>
        </p:nvSpPr>
        <p:spPr>
          <a:xfrm>
            <a:off x="5324475" y="1628775"/>
            <a:ext cx="1109700" cy="39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7300" lIns="0" spcFirstLastPara="1" rIns="0" wrap="square" tIns="7300">
            <a:noAutofit/>
          </a:bodyPr>
          <a:lstStyle/>
          <a:p>
            <a:pPr indent="0" lvl="0" marL="0" marR="0" rtl="0" algn="ctr">
              <a:lnSpc>
                <a:spcPct val="1078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>
                <a:solidFill>
                  <a:srgbClr val="00074E"/>
                </a:solidFill>
              </a:rPr>
              <a:t>시스템 구성</a:t>
            </a:r>
            <a:endParaRPr sz="500"/>
          </a:p>
        </p:txBody>
      </p:sp>
      <p:sp>
        <p:nvSpPr>
          <p:cNvPr id="92" name="Google Shape;92;p18"/>
          <p:cNvSpPr txBox="1"/>
          <p:nvPr/>
        </p:nvSpPr>
        <p:spPr>
          <a:xfrm>
            <a:off x="5210138" y="1984088"/>
            <a:ext cx="1343100" cy="37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285750" lvl="0" marL="457200" rtl="0" algn="l">
              <a:spcBef>
                <a:spcPts val="0"/>
              </a:spcBef>
              <a:spcAft>
                <a:spcPts val="0"/>
              </a:spcAft>
              <a:buSzPts val="900"/>
              <a:buChar char="●"/>
            </a:pPr>
            <a:r>
              <a:rPr lang="ko" sz="900"/>
              <a:t>시스템 구성 및 전체 아키텍처</a:t>
            </a:r>
            <a:endParaRPr sz="900">
              <a:solidFill>
                <a:srgbClr val="2C2C2C"/>
              </a:solidFill>
            </a:endParaRPr>
          </a:p>
        </p:txBody>
      </p:sp>
      <p:pic>
        <p:nvPicPr>
          <p:cNvPr id="93" name="Google Shape;93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62563" y="3143250"/>
            <a:ext cx="1238250" cy="4763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 txBox="1"/>
          <p:nvPr/>
        </p:nvSpPr>
        <p:spPr>
          <a:xfrm>
            <a:off x="6534131" y="2857538"/>
            <a:ext cx="290400" cy="18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350" lIns="0" spcFirstLastPara="1" rIns="0" wrap="square" tIns="6350">
            <a:noAutofit/>
          </a:bodyPr>
          <a:lstStyle/>
          <a:p>
            <a:pPr indent="0" lvl="0" marL="0" marR="0" rtl="0" algn="ctr">
              <a:lnSpc>
                <a:spcPct val="1078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1000" u="none" cap="none" strike="noStrike">
                <a:solidFill>
                  <a:srgbClr val="4A5BA3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05</a:t>
            </a:r>
            <a:endParaRPr sz="500"/>
          </a:p>
        </p:txBody>
      </p:sp>
      <p:sp>
        <p:nvSpPr>
          <p:cNvPr id="95" name="Google Shape;95;p18"/>
          <p:cNvSpPr txBox="1"/>
          <p:nvPr/>
        </p:nvSpPr>
        <p:spPr>
          <a:xfrm>
            <a:off x="6124556" y="3209963"/>
            <a:ext cx="1109700" cy="39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7300" lIns="0" spcFirstLastPara="1" rIns="0" wrap="square" tIns="7300">
            <a:noAutofit/>
          </a:bodyPr>
          <a:lstStyle/>
          <a:p>
            <a:pPr indent="0" lvl="0" marL="0" marR="0" rtl="0" algn="ctr">
              <a:lnSpc>
                <a:spcPct val="1078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>
                <a:solidFill>
                  <a:srgbClr val="00074E"/>
                </a:solidFill>
              </a:rPr>
              <a:t>프로젝트 결론</a:t>
            </a:r>
            <a:endParaRPr sz="500"/>
          </a:p>
        </p:txBody>
      </p:sp>
      <p:sp>
        <p:nvSpPr>
          <p:cNvPr id="96" name="Google Shape;96;p18"/>
          <p:cNvSpPr txBox="1"/>
          <p:nvPr/>
        </p:nvSpPr>
        <p:spPr>
          <a:xfrm>
            <a:off x="5860999" y="3605375"/>
            <a:ext cx="1623900" cy="37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2857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C2C2C"/>
              </a:buClr>
              <a:buSzPts val="900"/>
              <a:buChar char="●"/>
            </a:pPr>
            <a:r>
              <a:rPr lang="ko" sz="900">
                <a:solidFill>
                  <a:srgbClr val="2C2C2C"/>
                </a:solidFill>
              </a:rPr>
              <a:t>기능 요약 및 최종 평가</a:t>
            </a:r>
            <a:endParaRPr sz="900">
              <a:solidFill>
                <a:srgbClr val="2C2C2C"/>
              </a:solidFill>
            </a:endParaRPr>
          </a:p>
        </p:txBody>
      </p:sp>
      <p:pic>
        <p:nvPicPr>
          <p:cNvPr id="97" name="Google Shape;9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67525" y="1528763"/>
            <a:ext cx="1238250" cy="4763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8"/>
          <p:cNvSpPr txBox="1"/>
          <p:nvPr/>
        </p:nvSpPr>
        <p:spPr>
          <a:xfrm>
            <a:off x="7343775" y="1276350"/>
            <a:ext cx="290400" cy="18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350" lIns="0" spcFirstLastPara="1" rIns="0" wrap="square" tIns="6350">
            <a:noAutofit/>
          </a:bodyPr>
          <a:lstStyle/>
          <a:p>
            <a:pPr indent="0" lvl="0" marL="0" marR="0" rtl="0" algn="ctr">
              <a:lnSpc>
                <a:spcPct val="1078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1000" u="none" cap="none" strike="noStrike">
                <a:solidFill>
                  <a:srgbClr val="4A5BA3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03</a:t>
            </a:r>
            <a:endParaRPr sz="500"/>
          </a:p>
        </p:txBody>
      </p:sp>
      <p:sp>
        <p:nvSpPr>
          <p:cNvPr id="99" name="Google Shape;99;p18"/>
          <p:cNvSpPr txBox="1"/>
          <p:nvPr/>
        </p:nvSpPr>
        <p:spPr>
          <a:xfrm>
            <a:off x="6934200" y="1628775"/>
            <a:ext cx="1109700" cy="39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7300" lIns="0" spcFirstLastPara="1" rIns="0" wrap="square" tIns="7300">
            <a:noAutofit/>
          </a:bodyPr>
          <a:lstStyle/>
          <a:p>
            <a:pPr indent="0" lvl="0" marL="0" marR="0" rtl="0" algn="ctr">
              <a:lnSpc>
                <a:spcPct val="1078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>
                <a:solidFill>
                  <a:srgbClr val="00074E"/>
                </a:solidFill>
              </a:rPr>
              <a:t>설계</a:t>
            </a:r>
            <a:endParaRPr sz="500"/>
          </a:p>
        </p:txBody>
      </p:sp>
      <p:sp>
        <p:nvSpPr>
          <p:cNvPr id="100" name="Google Shape;100;p18"/>
          <p:cNvSpPr txBox="1"/>
          <p:nvPr/>
        </p:nvSpPr>
        <p:spPr>
          <a:xfrm>
            <a:off x="6815138" y="2007438"/>
            <a:ext cx="1343100" cy="37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2857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C2C2C"/>
              </a:buClr>
              <a:buSzPts val="900"/>
              <a:buChar char="●"/>
            </a:pPr>
            <a:r>
              <a:rPr lang="ko" sz="900">
                <a:solidFill>
                  <a:srgbClr val="2C2C2C"/>
                </a:solidFill>
              </a:rPr>
              <a:t>상세 동작 방식</a:t>
            </a:r>
            <a:endParaRPr sz="900">
              <a:solidFill>
                <a:srgbClr val="2C2C2C"/>
              </a:solidFill>
            </a:endParaRPr>
          </a:p>
        </p:txBody>
      </p:sp>
      <p:pic>
        <p:nvPicPr>
          <p:cNvPr id="101" name="Google Shape;10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67525" y="3143250"/>
            <a:ext cx="1238250" cy="4763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8"/>
          <p:cNvSpPr txBox="1"/>
          <p:nvPr/>
        </p:nvSpPr>
        <p:spPr>
          <a:xfrm>
            <a:off x="709613" y="2305050"/>
            <a:ext cx="2405100" cy="55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9375" lIns="0" spcFirstLastPara="1" rIns="0" wrap="square" tIns="39375">
            <a:noAutofit/>
          </a:bodyPr>
          <a:lstStyle/>
          <a:p>
            <a:pPr indent="0" lvl="0" marL="0" marR="0" rtl="0" algn="ctr">
              <a:lnSpc>
                <a:spcPct val="99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3100" u="none" cap="none" strike="noStrike">
                <a:solidFill>
                  <a:srgbClr val="00074E"/>
                </a:solidFill>
                <a:latin typeface="Arial"/>
                <a:ea typeface="Arial"/>
                <a:cs typeface="Arial"/>
                <a:sym typeface="Arial"/>
              </a:rPr>
              <a:t>CONTENTS</a:t>
            </a:r>
            <a:endParaRPr sz="500"/>
          </a:p>
        </p:txBody>
      </p:sp>
      <p:sp>
        <p:nvSpPr>
          <p:cNvPr id="103" name="Google Shape;103;p18"/>
          <p:cNvSpPr txBox="1"/>
          <p:nvPr/>
        </p:nvSpPr>
        <p:spPr>
          <a:xfrm>
            <a:off x="631050" y="329806"/>
            <a:ext cx="1161900" cy="36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775" lIns="0" spcFirstLastPara="1" rIns="0" wrap="square" tIns="6775">
            <a:noAutofit/>
          </a:bodyPr>
          <a:lstStyle/>
          <a:p>
            <a:pPr indent="0" lvl="0" marL="0" marR="0" rtl="0" algn="ctr">
              <a:lnSpc>
                <a:spcPct val="1078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>
                <a:solidFill>
                  <a:srgbClr val="FFFFFF"/>
                </a:solidFill>
              </a:rPr>
              <a:t>프로젝트</a:t>
            </a:r>
            <a:endParaRPr sz="1100">
              <a:solidFill>
                <a:srgbClr val="FFFFFF"/>
              </a:solidFill>
            </a:endParaRPr>
          </a:p>
          <a:p>
            <a:pPr indent="0" lvl="0" marL="0" marR="0" rtl="0" algn="ctr">
              <a:lnSpc>
                <a:spcPct val="1078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>
                <a:solidFill>
                  <a:srgbClr val="FFFFFF"/>
                </a:solidFill>
              </a:rPr>
              <a:t>계획</a:t>
            </a:r>
            <a:endParaRPr sz="1100">
              <a:solidFill>
                <a:srgbClr val="FFFFFF"/>
              </a:solidFill>
            </a:endParaRPr>
          </a:p>
        </p:txBody>
      </p:sp>
      <p:sp>
        <p:nvSpPr>
          <p:cNvPr id="104" name="Google Shape;104;p18"/>
          <p:cNvSpPr txBox="1"/>
          <p:nvPr>
            <p:ph idx="12" type="sldNum"/>
          </p:nvPr>
        </p:nvSpPr>
        <p:spPr>
          <a:xfrm>
            <a:off x="8595296" y="4749892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>
                <a:solidFill>
                  <a:srgbClr val="1F1F1F"/>
                </a:solidFill>
              </a:rPr>
              <a:t>‹#›</a:t>
            </a:fld>
            <a:endParaRPr>
              <a:solidFill>
                <a:srgbClr val="1F1F1F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9"/>
          <p:cNvSpPr txBox="1"/>
          <p:nvPr/>
        </p:nvSpPr>
        <p:spPr>
          <a:xfrm>
            <a:off x="695325" y="381000"/>
            <a:ext cx="1028700" cy="30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700" lIns="0" spcFirstLastPara="1" rIns="0" wrap="square" tIns="5700">
            <a:noAutofit/>
          </a:bodyPr>
          <a:lstStyle/>
          <a:p>
            <a:pPr indent="0" lvl="0" marL="0" rtl="0" algn="ctr">
              <a:lnSpc>
                <a:spcPct val="1078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>
                <a:solidFill>
                  <a:schemeClr val="lt1"/>
                </a:solidFill>
              </a:rPr>
              <a:t>CHAPTER 1</a:t>
            </a:r>
            <a:endParaRPr sz="11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0789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ko" sz="1100">
                <a:solidFill>
                  <a:schemeClr val="lt1"/>
                </a:solidFill>
              </a:rPr>
              <a:t>프로젝트 목표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id="110" name="Google Shape;110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rot="-5400000">
            <a:off x="3634275" y="-396400"/>
            <a:ext cx="652475" cy="5044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 rot="-5400000">
            <a:off x="3626250" y="340300"/>
            <a:ext cx="652450" cy="50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 rot="-5400000">
            <a:off x="3618225" y="1081750"/>
            <a:ext cx="652450" cy="5012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" name="Google Shape;113;p1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 rot="-5400000">
            <a:off x="3614188" y="1814437"/>
            <a:ext cx="652475" cy="5004501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9"/>
          <p:cNvSpPr txBox="1"/>
          <p:nvPr/>
        </p:nvSpPr>
        <p:spPr>
          <a:xfrm>
            <a:off x="1550113" y="1973538"/>
            <a:ext cx="2076300" cy="176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6199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ko" sz="1000">
                <a:solidFill>
                  <a:srgbClr val="00074E"/>
                </a:solidFill>
              </a:rPr>
              <a:t>1. </a:t>
            </a:r>
            <a:r>
              <a:rPr lang="ko" sz="1000">
                <a:solidFill>
                  <a:srgbClr val="00074E"/>
                </a:solidFill>
              </a:rPr>
              <a:t>로봇이 자율적으로 움직인다.</a:t>
            </a:r>
            <a:endParaRPr sz="1000">
              <a:solidFill>
                <a:srgbClr val="00074E"/>
              </a:solidFill>
            </a:endParaRPr>
          </a:p>
        </p:txBody>
      </p:sp>
      <p:sp>
        <p:nvSpPr>
          <p:cNvPr id="115" name="Google Shape;115;p19"/>
          <p:cNvSpPr txBox="1"/>
          <p:nvPr/>
        </p:nvSpPr>
        <p:spPr>
          <a:xfrm>
            <a:off x="1550113" y="2206900"/>
            <a:ext cx="2867100" cy="16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133350" lvl="1" marL="127000" marR="0" rtl="0" algn="l">
              <a:lnSpc>
                <a:spcPct val="1411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Char char="●"/>
            </a:pPr>
            <a:r>
              <a:rPr lang="ko" sz="900">
                <a:solidFill>
                  <a:srgbClr val="2C2C2C"/>
                </a:solidFill>
              </a:rPr>
              <a:t>경로 이동, 정지, 회전, 촬영 지점 대기 기능을 수행</a:t>
            </a:r>
            <a:endParaRPr sz="500"/>
          </a:p>
        </p:txBody>
      </p:sp>
      <p:sp>
        <p:nvSpPr>
          <p:cNvPr id="116" name="Google Shape;116;p19"/>
          <p:cNvSpPr txBox="1"/>
          <p:nvPr/>
        </p:nvSpPr>
        <p:spPr>
          <a:xfrm>
            <a:off x="1550113" y="2916513"/>
            <a:ext cx="3005100" cy="16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133350" lvl="1" marL="127000" marR="0" rtl="0" algn="l">
              <a:lnSpc>
                <a:spcPct val="1411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Char char="●"/>
            </a:pPr>
            <a:r>
              <a:rPr lang="ko" sz="900">
                <a:solidFill>
                  <a:srgbClr val="2C2C2C"/>
                </a:solidFill>
              </a:rPr>
              <a:t>사람, 장애물, 화재, 연기 등 이벤트 후보를 판별한다.</a:t>
            </a:r>
            <a:endParaRPr sz="500"/>
          </a:p>
        </p:txBody>
      </p:sp>
      <p:sp>
        <p:nvSpPr>
          <p:cNvPr id="117" name="Google Shape;117;p19"/>
          <p:cNvSpPr txBox="1"/>
          <p:nvPr/>
        </p:nvSpPr>
        <p:spPr>
          <a:xfrm>
            <a:off x="1550151" y="2702025"/>
            <a:ext cx="4804200" cy="16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6199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ko" sz="1000">
                <a:solidFill>
                  <a:srgbClr val="00074E"/>
                </a:solidFill>
              </a:rPr>
              <a:t>2. </a:t>
            </a:r>
            <a:r>
              <a:rPr lang="ko" sz="1000">
                <a:solidFill>
                  <a:srgbClr val="00074E"/>
                </a:solidFill>
              </a:rPr>
              <a:t>딥러닝 기반 객체 인식으로 위험 가능성이 있는 이벤트를 감지한다.</a:t>
            </a:r>
            <a:endParaRPr sz="1000">
              <a:solidFill>
                <a:srgbClr val="00074E"/>
              </a:solidFill>
            </a:endParaRPr>
          </a:p>
        </p:txBody>
      </p:sp>
      <p:sp>
        <p:nvSpPr>
          <p:cNvPr id="118" name="Google Shape;118;p19"/>
          <p:cNvSpPr txBox="1"/>
          <p:nvPr/>
        </p:nvSpPr>
        <p:spPr>
          <a:xfrm>
            <a:off x="1550132" y="3659474"/>
            <a:ext cx="4715700" cy="16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133350" lvl="1" marL="127000" marR="0" rtl="0" algn="l">
              <a:lnSpc>
                <a:spcPct val="1411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Char char="●"/>
            </a:pPr>
            <a:r>
              <a:rPr lang="ko" sz="900">
                <a:solidFill>
                  <a:srgbClr val="2C2C2C"/>
                </a:solidFill>
              </a:rPr>
              <a:t>촬영 이미지와 이벤트 정보를 전송 가능한 데이터로 구성한다.</a:t>
            </a:r>
            <a:endParaRPr sz="500"/>
          </a:p>
        </p:txBody>
      </p:sp>
      <p:sp>
        <p:nvSpPr>
          <p:cNvPr id="119" name="Google Shape;119;p19"/>
          <p:cNvSpPr txBox="1"/>
          <p:nvPr/>
        </p:nvSpPr>
        <p:spPr>
          <a:xfrm>
            <a:off x="1550150" y="3411675"/>
            <a:ext cx="5044800" cy="19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61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 sz="1000">
                <a:solidFill>
                  <a:srgbClr val="00074E"/>
                </a:solidFill>
              </a:rPr>
              <a:t>3. </a:t>
            </a:r>
            <a:r>
              <a:rPr lang="ko" sz="1000">
                <a:solidFill>
                  <a:srgbClr val="00074E"/>
                </a:solidFill>
              </a:rPr>
              <a:t>이벤트가 감지되면 사진과 위치·시간 정보를 서버로 전송한다.</a:t>
            </a:r>
            <a:endParaRPr sz="500"/>
          </a:p>
        </p:txBody>
      </p:sp>
      <p:sp>
        <p:nvSpPr>
          <p:cNvPr id="120" name="Google Shape;120;p19"/>
          <p:cNvSpPr txBox="1"/>
          <p:nvPr/>
        </p:nvSpPr>
        <p:spPr>
          <a:xfrm>
            <a:off x="1550136" y="4392900"/>
            <a:ext cx="4522800" cy="16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133350" lvl="1" marL="127000" marR="0" rtl="0" algn="l">
              <a:lnSpc>
                <a:spcPct val="1411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Char char="●"/>
            </a:pPr>
            <a:r>
              <a:rPr lang="ko" sz="900">
                <a:solidFill>
                  <a:srgbClr val="2C2C2C"/>
                </a:solidFill>
              </a:rPr>
              <a:t>위험도, 이벤트 종류, 분석 결과, 사진 경로를 기록한다.</a:t>
            </a:r>
            <a:endParaRPr sz="500"/>
          </a:p>
        </p:txBody>
      </p:sp>
      <p:sp>
        <p:nvSpPr>
          <p:cNvPr id="121" name="Google Shape;121;p19"/>
          <p:cNvSpPr txBox="1"/>
          <p:nvPr/>
        </p:nvSpPr>
        <p:spPr>
          <a:xfrm>
            <a:off x="1550140" y="4140325"/>
            <a:ext cx="4610100" cy="19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61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 sz="1000">
                <a:solidFill>
                  <a:schemeClr val="dk1"/>
                </a:solidFill>
              </a:rPr>
              <a:t>4. </a:t>
            </a:r>
            <a:r>
              <a:rPr lang="ko" sz="1000">
                <a:solidFill>
                  <a:schemeClr val="dk1"/>
                </a:solidFill>
              </a:rPr>
              <a:t>서버는 이미지를 분석하고 결과를 JSON 형태로 정리해 DB에 저장한다.</a:t>
            </a:r>
            <a:endParaRPr sz="500"/>
          </a:p>
        </p:txBody>
      </p:sp>
      <p:pic>
        <p:nvPicPr>
          <p:cNvPr id="122" name="Google Shape;122;p19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594938" y="1976438"/>
            <a:ext cx="2257425" cy="2257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p19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792575" y="2178850"/>
            <a:ext cx="1852613" cy="185261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4" name="Google Shape;124;p19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7492663" y="2631325"/>
            <a:ext cx="452438" cy="452438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Google Shape;125;p19"/>
          <p:cNvSpPr txBox="1"/>
          <p:nvPr/>
        </p:nvSpPr>
        <p:spPr>
          <a:xfrm>
            <a:off x="7506950" y="2436025"/>
            <a:ext cx="428700" cy="19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975" lIns="0" spcFirstLastPara="1" rIns="0" wrap="square" tIns="13975">
            <a:noAutofit/>
          </a:bodyPr>
          <a:lstStyle/>
          <a:p>
            <a:pPr indent="0" lvl="0" marL="0" marR="0" rtl="0" algn="ctr">
              <a:lnSpc>
                <a:spcPct val="99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Goal</a:t>
            </a:r>
            <a:endParaRPr sz="500"/>
          </a:p>
        </p:txBody>
      </p:sp>
      <p:sp>
        <p:nvSpPr>
          <p:cNvPr id="126" name="Google Shape;126;p19"/>
          <p:cNvSpPr txBox="1"/>
          <p:nvPr/>
        </p:nvSpPr>
        <p:spPr>
          <a:xfrm>
            <a:off x="6966475" y="3100238"/>
            <a:ext cx="1504800" cy="65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1619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000">
                <a:solidFill>
                  <a:srgbClr val="FFFFFF"/>
                </a:solidFill>
              </a:rPr>
              <a:t>자율 순찰 중</a:t>
            </a:r>
            <a:endParaRPr sz="1000">
              <a:solidFill>
                <a:srgbClr val="FFFFFF"/>
              </a:solidFill>
            </a:endParaRPr>
          </a:p>
          <a:p>
            <a:pPr indent="0" lvl="0" marL="0" rtl="0" algn="ctr">
              <a:lnSpc>
                <a:spcPct val="11619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000">
                <a:solidFill>
                  <a:srgbClr val="FFFFFF"/>
                </a:solidFill>
              </a:rPr>
              <a:t>위험 이벤트를 감지하고</a:t>
            </a:r>
            <a:endParaRPr sz="1000">
              <a:solidFill>
                <a:srgbClr val="FFFFFF"/>
              </a:solidFill>
            </a:endParaRPr>
          </a:p>
          <a:p>
            <a:pPr indent="0" lvl="0" marL="0" rtl="0" algn="ctr">
              <a:lnSpc>
                <a:spcPct val="11619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000">
                <a:solidFill>
                  <a:srgbClr val="FFFFFF"/>
                </a:solidFill>
              </a:rPr>
              <a:t>사진·분석 결과를</a:t>
            </a:r>
            <a:endParaRPr sz="1000">
              <a:solidFill>
                <a:srgbClr val="FFFFFF"/>
              </a:solidFill>
            </a:endParaRPr>
          </a:p>
          <a:p>
            <a:pPr indent="0" lvl="0" marL="0" rtl="0" algn="ctr">
              <a:lnSpc>
                <a:spcPct val="116199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ko" sz="1000">
                <a:solidFill>
                  <a:srgbClr val="FFFFFF"/>
                </a:solidFill>
              </a:rPr>
              <a:t>DB에 기록하는 시스템</a:t>
            </a:r>
            <a:endParaRPr sz="1000">
              <a:solidFill>
                <a:srgbClr val="FFFFFF"/>
              </a:solidFill>
            </a:endParaRPr>
          </a:p>
        </p:txBody>
      </p:sp>
      <p:pic>
        <p:nvPicPr>
          <p:cNvPr id="127" name="Google Shape;127;p19"/>
          <p:cNvPicPr preferRelativeResize="0"/>
          <p:nvPr/>
        </p:nvPicPr>
        <p:blipFill rotWithShape="1">
          <a:blip r:embed="rId11">
            <a:alphaModFix amt="50000"/>
          </a:blip>
          <a:srcRect b="0" l="0" r="0" t="0"/>
          <a:stretch/>
        </p:blipFill>
        <p:spPr>
          <a:xfrm>
            <a:off x="5864925" y="2854600"/>
            <a:ext cx="295275" cy="9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8" name="Google Shape;128;p19"/>
          <p:cNvPicPr preferRelativeResize="0"/>
          <p:nvPr/>
        </p:nvPicPr>
        <p:blipFill rotWithShape="1">
          <a:blip r:embed="rId11">
            <a:alphaModFix amt="50000"/>
          </a:blip>
          <a:srcRect b="0" l="0" r="0" t="0"/>
          <a:stretch/>
        </p:blipFill>
        <p:spPr>
          <a:xfrm>
            <a:off x="5860163" y="3583263"/>
            <a:ext cx="295275" cy="9525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19"/>
          <p:cNvSpPr txBox="1"/>
          <p:nvPr/>
        </p:nvSpPr>
        <p:spPr>
          <a:xfrm>
            <a:off x="2127375" y="1019400"/>
            <a:ext cx="28119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프로젝트 목표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19"/>
          <p:cNvSpPr txBox="1"/>
          <p:nvPr>
            <p:ph idx="12" type="sldNum"/>
          </p:nvPr>
        </p:nvSpPr>
        <p:spPr>
          <a:xfrm>
            <a:off x="8595296" y="4749892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>
                <a:solidFill>
                  <a:srgbClr val="1F1F1F"/>
                </a:solidFill>
              </a:rPr>
              <a:t>‹#›</a:t>
            </a:fld>
            <a:endParaRPr>
              <a:solidFill>
                <a:srgbClr val="1F1F1F"/>
              </a:solidFill>
            </a:endParaRPr>
          </a:p>
        </p:txBody>
      </p:sp>
      <p:pic>
        <p:nvPicPr>
          <p:cNvPr descr="Robot navigation vector, Robotics related flat design icon(Getty Images 제공)" id="131" name="Google Shape;131;p19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783600" y="1726343"/>
            <a:ext cx="652179" cy="65249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uman eyeball scan reading security information for work(Getty Images 제공)" id="132" name="Google Shape;132;p19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783600" y="2459962"/>
            <a:ext cx="652175" cy="6521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erver flat icon. Data storage blue icons in trendy flat style. Computer storage gradient style design, designed for web and app. Eps 10.(Getty Images 제공)" id="133" name="Google Shape;133;p19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783600" y="3265875"/>
            <a:ext cx="652175" cy="6521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the database is an icon vector. Isolated contour symbol illustration(Getty Images 제공)" id="134" name="Google Shape;134;p19"/>
          <p:cNvPicPr preferRelativeResize="0"/>
          <p:nvPr/>
        </p:nvPicPr>
        <p:blipFill>
          <a:blip r:embed="rId15">
            <a:alphaModFix/>
          </a:blip>
          <a:stretch>
            <a:fillRect/>
          </a:stretch>
        </p:blipFill>
        <p:spPr>
          <a:xfrm flipH="1">
            <a:off x="785993" y="3997443"/>
            <a:ext cx="652175" cy="652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/>
        </p:nvSpPr>
        <p:spPr>
          <a:xfrm>
            <a:off x="695325" y="381000"/>
            <a:ext cx="1028700" cy="30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700" lIns="0" spcFirstLastPara="1" rIns="0" wrap="square" tIns="5700">
            <a:noAutofit/>
          </a:bodyPr>
          <a:lstStyle/>
          <a:p>
            <a:pPr indent="0" lvl="0" marL="0" rtl="0" algn="ctr">
              <a:lnSpc>
                <a:spcPct val="1078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>
                <a:solidFill>
                  <a:schemeClr val="lt1"/>
                </a:solidFill>
              </a:rPr>
              <a:t>CHAPTER 1</a:t>
            </a:r>
            <a:endParaRPr sz="11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078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>
                <a:solidFill>
                  <a:schemeClr val="lt1"/>
                </a:solidFill>
              </a:rPr>
              <a:t>프로젝트 목표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id="140" name="Google Shape;14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224350" y="2360713"/>
            <a:ext cx="690562" cy="69056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738575" y="1874938"/>
            <a:ext cx="1662112" cy="1662112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0"/>
          <p:cNvSpPr txBox="1"/>
          <p:nvPr/>
        </p:nvSpPr>
        <p:spPr>
          <a:xfrm>
            <a:off x="4052900" y="2155925"/>
            <a:ext cx="361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61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 sz="2300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R</a:t>
            </a:r>
            <a:endParaRPr sz="500"/>
          </a:p>
        </p:txBody>
      </p:sp>
      <p:sp>
        <p:nvSpPr>
          <p:cNvPr id="143" name="Google Shape;143;p20"/>
          <p:cNvSpPr txBox="1"/>
          <p:nvPr/>
        </p:nvSpPr>
        <p:spPr>
          <a:xfrm>
            <a:off x="4705363" y="2155925"/>
            <a:ext cx="381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61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 sz="2300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C</a:t>
            </a:r>
            <a:endParaRPr sz="500"/>
          </a:p>
        </p:txBody>
      </p:sp>
      <p:sp>
        <p:nvSpPr>
          <p:cNvPr id="144" name="Google Shape;144;p20"/>
          <p:cNvSpPr txBox="1"/>
          <p:nvPr/>
        </p:nvSpPr>
        <p:spPr>
          <a:xfrm>
            <a:off x="4052900" y="2860775"/>
            <a:ext cx="361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61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 sz="2300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N</a:t>
            </a:r>
            <a:endParaRPr sz="500"/>
          </a:p>
        </p:txBody>
      </p:sp>
      <p:sp>
        <p:nvSpPr>
          <p:cNvPr id="145" name="Google Shape;145;p20"/>
          <p:cNvSpPr txBox="1"/>
          <p:nvPr/>
        </p:nvSpPr>
        <p:spPr>
          <a:xfrm>
            <a:off x="4710125" y="2860775"/>
            <a:ext cx="361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61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 sz="2300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D</a:t>
            </a:r>
            <a:endParaRPr sz="500"/>
          </a:p>
        </p:txBody>
      </p:sp>
      <p:pic>
        <p:nvPicPr>
          <p:cNvPr id="146" name="Google Shape;146;p2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61388" y="973050"/>
            <a:ext cx="981075" cy="23812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0"/>
          <p:cNvSpPr txBox="1"/>
          <p:nvPr/>
        </p:nvSpPr>
        <p:spPr>
          <a:xfrm>
            <a:off x="537588" y="1006388"/>
            <a:ext cx="819000" cy="16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050" lIns="0" spcFirstLastPara="1" rIns="0" wrap="square" tIns="12050">
            <a:noAutofit/>
          </a:bodyPr>
          <a:lstStyle/>
          <a:p>
            <a:pPr indent="0" lvl="0" marL="0" marR="0" rtl="0" algn="ctr">
              <a:lnSpc>
                <a:spcPct val="99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 sz="900">
                <a:solidFill>
                  <a:srgbClr val="FFFFFF"/>
                </a:solidFill>
              </a:rPr>
              <a:t>로봇 이동 제어</a:t>
            </a:r>
            <a:endParaRPr sz="500"/>
          </a:p>
        </p:txBody>
      </p:sp>
      <p:sp>
        <p:nvSpPr>
          <p:cNvPr id="148" name="Google Shape;148;p20"/>
          <p:cNvSpPr txBox="1"/>
          <p:nvPr/>
        </p:nvSpPr>
        <p:spPr>
          <a:xfrm>
            <a:off x="461410" y="1296900"/>
            <a:ext cx="4082100" cy="18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61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>
                <a:solidFill>
                  <a:srgbClr val="00074E"/>
                </a:solidFill>
              </a:rPr>
              <a:t>로봇이 정해진 구간을 이동하고, 촬영이 필요한 위치에서 정지하도록 제어한다. </a:t>
            </a:r>
            <a:endParaRPr sz="500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714375" y="973050"/>
            <a:ext cx="981075" cy="238125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0"/>
          <p:cNvSpPr txBox="1"/>
          <p:nvPr/>
        </p:nvSpPr>
        <p:spPr>
          <a:xfrm>
            <a:off x="7790575" y="1006388"/>
            <a:ext cx="819000" cy="16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050" lIns="0" spcFirstLastPara="1" rIns="0" wrap="square" tIns="12050">
            <a:noAutofit/>
          </a:bodyPr>
          <a:lstStyle/>
          <a:p>
            <a:pPr indent="0" lvl="0" marL="0" marR="0" rtl="0" algn="ctr">
              <a:lnSpc>
                <a:spcPct val="99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 sz="900">
                <a:solidFill>
                  <a:srgbClr val="FFFFFF"/>
                </a:solidFill>
              </a:rPr>
              <a:t>카메라/팔 제어</a:t>
            </a:r>
            <a:endParaRPr sz="500"/>
          </a:p>
        </p:txBody>
      </p:sp>
      <p:sp>
        <p:nvSpPr>
          <p:cNvPr id="151" name="Google Shape;151;p20"/>
          <p:cNvSpPr txBox="1"/>
          <p:nvPr/>
        </p:nvSpPr>
        <p:spPr>
          <a:xfrm>
            <a:off x="4645225" y="1244478"/>
            <a:ext cx="4021800" cy="2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>
                <a:solidFill>
                  <a:srgbClr val="00074E"/>
                </a:solidFill>
              </a:rPr>
              <a:t>카메라 영상을 입력받고, 이벤트 후보가 감지되면 촬영 프레임과 카메라 방향을 제어한다. </a:t>
            </a:r>
            <a:endParaRPr sz="500"/>
          </a:p>
        </p:txBody>
      </p:sp>
      <p:pic>
        <p:nvPicPr>
          <p:cNvPr id="152" name="Google Shape;152;p2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56550" y="2817863"/>
            <a:ext cx="981075" cy="238125"/>
          </a:xfrm>
          <a:prstGeom prst="rect">
            <a:avLst/>
          </a:prstGeom>
          <a:noFill/>
          <a:ln>
            <a:noFill/>
          </a:ln>
        </p:spPr>
      </p:pic>
      <p:sp>
        <p:nvSpPr>
          <p:cNvPr id="153" name="Google Shape;153;p20"/>
          <p:cNvSpPr txBox="1"/>
          <p:nvPr/>
        </p:nvSpPr>
        <p:spPr>
          <a:xfrm>
            <a:off x="532750" y="2851200"/>
            <a:ext cx="819000" cy="16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050" lIns="0" spcFirstLastPara="1" rIns="0" wrap="square" tIns="12050">
            <a:noAutofit/>
          </a:bodyPr>
          <a:lstStyle/>
          <a:p>
            <a:pPr indent="0" lvl="0" marL="0" marR="0" rtl="0" algn="ctr">
              <a:lnSpc>
                <a:spcPct val="99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 sz="900">
                <a:solidFill>
                  <a:srgbClr val="FFFFFF"/>
                </a:solidFill>
              </a:rPr>
              <a:t>네트워크</a:t>
            </a:r>
            <a:endParaRPr sz="500"/>
          </a:p>
        </p:txBody>
      </p:sp>
      <p:sp>
        <p:nvSpPr>
          <p:cNvPr id="154" name="Google Shape;154;p20"/>
          <p:cNvSpPr txBox="1"/>
          <p:nvPr/>
        </p:nvSpPr>
        <p:spPr>
          <a:xfrm>
            <a:off x="456556" y="3101475"/>
            <a:ext cx="3318300" cy="2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61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>
                <a:solidFill>
                  <a:srgbClr val="00074E"/>
                </a:solidFill>
              </a:rPr>
              <a:t>로봇에서 생성된 이미지와 이벤트 정보를 로컬 서버로 전송하고 수신 결과를 확인한다. </a:t>
            </a:r>
            <a:endParaRPr sz="500"/>
          </a:p>
        </p:txBody>
      </p:sp>
      <p:pic>
        <p:nvPicPr>
          <p:cNvPr id="155" name="Google Shape;155;p2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14363" y="2817875"/>
            <a:ext cx="981075" cy="238125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20"/>
          <p:cNvSpPr txBox="1"/>
          <p:nvPr/>
        </p:nvSpPr>
        <p:spPr>
          <a:xfrm>
            <a:off x="7795325" y="2851213"/>
            <a:ext cx="819000" cy="16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050" lIns="0" spcFirstLastPara="1" rIns="0" wrap="square" tIns="12050">
            <a:noAutofit/>
          </a:bodyPr>
          <a:lstStyle/>
          <a:p>
            <a:pPr indent="0" lvl="0" marL="0" marR="0" rtl="0" algn="ctr">
              <a:lnSpc>
                <a:spcPct val="99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 sz="900">
                <a:solidFill>
                  <a:srgbClr val="FFFFFF"/>
                </a:solidFill>
              </a:rPr>
              <a:t>데이터베이스</a:t>
            </a:r>
            <a:endParaRPr sz="500"/>
          </a:p>
        </p:txBody>
      </p:sp>
      <p:sp>
        <p:nvSpPr>
          <p:cNvPr id="157" name="Google Shape;157;p20"/>
          <p:cNvSpPr txBox="1"/>
          <p:nvPr/>
        </p:nvSpPr>
        <p:spPr>
          <a:xfrm>
            <a:off x="5377150" y="3063450"/>
            <a:ext cx="3318300" cy="2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100">
                <a:solidFill>
                  <a:srgbClr val="00074E"/>
                </a:solidFill>
              </a:rPr>
              <a:t>촬영 정보, 이벤트 정보, 분석 결과를 저장하고 조회 가능한 형태로 관리한다.</a:t>
            </a:r>
            <a:endParaRPr sz="1100">
              <a:solidFill>
                <a:srgbClr val="00074E"/>
              </a:solidFill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00074E"/>
              </a:solidFill>
            </a:endParaRPr>
          </a:p>
        </p:txBody>
      </p:sp>
      <p:sp>
        <p:nvSpPr>
          <p:cNvPr id="158" name="Google Shape;158;p20"/>
          <p:cNvSpPr txBox="1"/>
          <p:nvPr/>
        </p:nvSpPr>
        <p:spPr>
          <a:xfrm>
            <a:off x="2641113" y="309625"/>
            <a:ext cx="37815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925" lIns="0" spcFirstLastPara="1" rIns="0" wrap="square" tIns="34925">
            <a:noAutofit/>
          </a:bodyPr>
          <a:lstStyle/>
          <a:p>
            <a:pPr indent="0" lvl="0" marL="0" marR="0" rtl="0" algn="ctr">
              <a:lnSpc>
                <a:spcPct val="99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 sz="2700">
                <a:solidFill>
                  <a:srgbClr val="00074E"/>
                </a:solidFill>
              </a:rPr>
              <a:t>4가지 핵심 목표.</a:t>
            </a:r>
            <a:endParaRPr sz="500"/>
          </a:p>
        </p:txBody>
      </p:sp>
      <p:pic>
        <p:nvPicPr>
          <p:cNvPr descr="Robot navigation vector, Robotics related flat design icon(Getty Images 제공)" id="159" name="Google Shape;159;p2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912652" y="1631381"/>
            <a:ext cx="1105293" cy="110582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hotography camera icon, blue color(Getty Images 제공)" id="160" name="Google Shape;160;p20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5699700" y="1631650"/>
            <a:ext cx="1105300" cy="1105300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20"/>
          <p:cNvSpPr txBox="1"/>
          <p:nvPr/>
        </p:nvSpPr>
        <p:spPr>
          <a:xfrm>
            <a:off x="9004150" y="-321025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camera</a:t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descr="Robot machine solid icon, Robotization concept, Robotic hand manipulator sign on white background, Industrial mechanical robot arm icon in glyph style for mobile and web. Vector graphics.(Getty Images 제공)" id="162" name="Google Shape;162;p20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7208800" y="1631648"/>
            <a:ext cx="1105300" cy="11053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network   connection   computer(Getty Images 제공)" id="163" name="Google Shape;163;p20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1912650" y="3568450"/>
            <a:ext cx="1105300" cy="1105300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20"/>
          <p:cNvSpPr txBox="1"/>
          <p:nvPr>
            <p:ph idx="12" type="sldNum"/>
          </p:nvPr>
        </p:nvSpPr>
        <p:spPr>
          <a:xfrm>
            <a:off x="8595296" y="4749892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>
                <a:solidFill>
                  <a:srgbClr val="1F1F1F"/>
                </a:solidFill>
              </a:rPr>
              <a:t>‹#›</a:t>
            </a:fld>
            <a:endParaRPr>
              <a:solidFill>
                <a:srgbClr val="1F1F1F"/>
              </a:solidFill>
            </a:endParaRPr>
          </a:p>
        </p:txBody>
      </p:sp>
      <p:pic>
        <p:nvPicPr>
          <p:cNvPr descr="the database is an icon vector. Isolated contour symbol illustration(Getty Images 제공)" id="165" name="Google Shape;165;p20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6511275" y="3568450"/>
            <a:ext cx="1105300" cy="1105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1"/>
          <p:cNvSpPr txBox="1"/>
          <p:nvPr/>
        </p:nvSpPr>
        <p:spPr>
          <a:xfrm>
            <a:off x="2933100" y="0"/>
            <a:ext cx="3277800" cy="36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775" lIns="0" spcFirstLastPara="1" rIns="0" wrap="square" tIns="6775">
            <a:noAutofit/>
          </a:bodyPr>
          <a:lstStyle/>
          <a:p>
            <a:pPr indent="0" lvl="0" marL="0" marR="0" rtl="0" algn="ctr">
              <a:lnSpc>
                <a:spcPct val="1078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1100">
                <a:solidFill>
                  <a:schemeClr val="dk1"/>
                </a:solidFill>
              </a:rPr>
              <a:t>CHAPTER 2:</a:t>
            </a:r>
            <a:r>
              <a:rPr lang="ko" sz="1100">
                <a:solidFill>
                  <a:schemeClr val="dk1"/>
                </a:solidFill>
              </a:rPr>
              <a:t>시스템 구성 - 전체 구성도</a:t>
            </a:r>
            <a:endParaRPr sz="1100">
              <a:solidFill>
                <a:schemeClr val="dk1"/>
              </a:solidFill>
            </a:endParaRPr>
          </a:p>
        </p:txBody>
      </p:sp>
      <p:pic>
        <p:nvPicPr>
          <p:cNvPr id="171" name="Google Shape;171;p21" title="전체 구성도 - Ros.png"/>
          <p:cNvPicPr preferRelativeResize="0"/>
          <p:nvPr/>
        </p:nvPicPr>
        <p:blipFill rotWithShape="1">
          <a:blip r:embed="rId3">
            <a:alphaModFix/>
          </a:blip>
          <a:srcRect b="20528" l="0" r="0" t="0"/>
          <a:stretch/>
        </p:blipFill>
        <p:spPr>
          <a:xfrm>
            <a:off x="329300" y="319325"/>
            <a:ext cx="8528275" cy="4560076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21"/>
          <p:cNvSpPr txBox="1"/>
          <p:nvPr>
            <p:ph idx="12" type="sldNum"/>
          </p:nvPr>
        </p:nvSpPr>
        <p:spPr>
          <a:xfrm>
            <a:off x="8595300" y="4841475"/>
            <a:ext cx="548700" cy="30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 sz="1000">
                <a:solidFill>
                  <a:srgbClr val="1F1F1F"/>
                </a:solidFill>
              </a:rPr>
              <a:t>‹#›</a:t>
            </a:fld>
            <a:endParaRPr sz="1000">
              <a:solidFill>
                <a:srgbClr val="1F1F1F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2"/>
          <p:cNvSpPr txBox="1"/>
          <p:nvPr/>
        </p:nvSpPr>
        <p:spPr>
          <a:xfrm>
            <a:off x="2933100" y="0"/>
            <a:ext cx="3277800" cy="36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775" lIns="0" spcFirstLastPara="1" rIns="0" wrap="square" tIns="6775">
            <a:noAutofit/>
          </a:bodyPr>
          <a:lstStyle/>
          <a:p>
            <a:pPr indent="0" lvl="0" marL="0" marR="0" rtl="0" algn="ctr">
              <a:lnSpc>
                <a:spcPct val="1078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1100">
                <a:solidFill>
                  <a:schemeClr val="dk1"/>
                </a:solidFill>
              </a:rPr>
              <a:t>CHAPTER 2: </a:t>
            </a:r>
            <a:r>
              <a:rPr lang="ko" sz="1100">
                <a:solidFill>
                  <a:schemeClr val="dk1"/>
                </a:solidFill>
              </a:rPr>
              <a:t>시스템 구성 - ROS </a:t>
            </a:r>
            <a:r>
              <a:rPr lang="ko" sz="1100">
                <a:solidFill>
                  <a:schemeClr val="dk1"/>
                </a:solidFill>
              </a:rPr>
              <a:t>클래스 다이어그램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78" name="Google Shape;178;p22"/>
          <p:cNvSpPr txBox="1"/>
          <p:nvPr>
            <p:ph idx="12" type="sldNum"/>
          </p:nvPr>
        </p:nvSpPr>
        <p:spPr>
          <a:xfrm>
            <a:off x="8595300" y="4841475"/>
            <a:ext cx="548700" cy="30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 sz="1000">
                <a:solidFill>
                  <a:srgbClr val="1F1F1F"/>
                </a:solidFill>
              </a:rPr>
              <a:t>‹#›</a:t>
            </a:fld>
            <a:endParaRPr sz="1000">
              <a:solidFill>
                <a:srgbClr val="1F1F1F"/>
              </a:solidFill>
            </a:endParaRPr>
          </a:p>
        </p:txBody>
      </p:sp>
      <p:pic>
        <p:nvPicPr>
          <p:cNvPr id="179" name="Google Shape;179;p22" title="ROS_Node_class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89900" y="1359863"/>
            <a:ext cx="8364199" cy="2423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3"/>
          <p:cNvSpPr txBox="1"/>
          <p:nvPr/>
        </p:nvSpPr>
        <p:spPr>
          <a:xfrm>
            <a:off x="2360100" y="0"/>
            <a:ext cx="4423800" cy="36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775" lIns="0" spcFirstLastPara="1" rIns="0" wrap="square" tIns="6775">
            <a:noAutofit/>
          </a:bodyPr>
          <a:lstStyle/>
          <a:p>
            <a:pPr indent="0" lvl="0" marL="0" marR="0" rtl="0" algn="ctr">
              <a:lnSpc>
                <a:spcPct val="1078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1100">
                <a:solidFill>
                  <a:schemeClr val="dk1"/>
                </a:solidFill>
              </a:rPr>
              <a:t>CHAPTER 2: </a:t>
            </a:r>
            <a:r>
              <a:rPr lang="ko" sz="1100">
                <a:solidFill>
                  <a:schemeClr val="dk1"/>
                </a:solidFill>
              </a:rPr>
              <a:t>시스템 구성 - </a:t>
            </a:r>
            <a:r>
              <a:rPr lang="ko" sz="1100">
                <a:solidFill>
                  <a:schemeClr val="dk1"/>
                </a:solidFill>
              </a:rPr>
              <a:t>서버</a:t>
            </a:r>
            <a:r>
              <a:rPr lang="ko" sz="1100">
                <a:solidFill>
                  <a:schemeClr val="dk1"/>
                </a:solidFill>
              </a:rPr>
              <a:t> 클래스 다이어그램, DB ERD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85" name="Google Shape;185;p23"/>
          <p:cNvSpPr txBox="1"/>
          <p:nvPr>
            <p:ph idx="12" type="sldNum"/>
          </p:nvPr>
        </p:nvSpPr>
        <p:spPr>
          <a:xfrm>
            <a:off x="8595300" y="4841475"/>
            <a:ext cx="548700" cy="30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 sz="1000">
                <a:solidFill>
                  <a:srgbClr val="1F1F1F"/>
                </a:solidFill>
              </a:rPr>
              <a:t>‹#›</a:t>
            </a:fld>
            <a:endParaRPr sz="1000">
              <a:solidFill>
                <a:srgbClr val="1F1F1F"/>
              </a:solidFill>
            </a:endParaRPr>
          </a:p>
        </p:txBody>
      </p:sp>
      <p:pic>
        <p:nvPicPr>
          <p:cNvPr id="186" name="Google Shape;186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48350" y="308225"/>
            <a:ext cx="3492048" cy="44717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87" name="Google Shape;187;p2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67025" y="1049347"/>
            <a:ext cx="2851274" cy="304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4"/>
          <p:cNvSpPr txBox="1"/>
          <p:nvPr/>
        </p:nvSpPr>
        <p:spPr>
          <a:xfrm>
            <a:off x="2829450" y="0"/>
            <a:ext cx="3485100" cy="36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775" lIns="0" spcFirstLastPara="1" rIns="0" wrap="square" tIns="6775">
            <a:noAutofit/>
          </a:bodyPr>
          <a:lstStyle/>
          <a:p>
            <a:pPr indent="0" lvl="0" marL="0" marR="0" rtl="0" algn="ctr">
              <a:lnSpc>
                <a:spcPct val="1078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1100">
                <a:solidFill>
                  <a:schemeClr val="dk1"/>
                </a:solidFill>
              </a:rPr>
              <a:t>CHAPTER 2: </a:t>
            </a:r>
            <a:r>
              <a:rPr lang="ko" sz="1100">
                <a:solidFill>
                  <a:schemeClr val="dk1"/>
                </a:solidFill>
              </a:rPr>
              <a:t>시스템 구성 - </a:t>
            </a:r>
            <a:r>
              <a:rPr lang="ko" sz="1100">
                <a:solidFill>
                  <a:schemeClr val="dk1"/>
                </a:solidFill>
              </a:rPr>
              <a:t>전체 시퀀스</a:t>
            </a:r>
            <a:r>
              <a:rPr lang="ko" sz="1100">
                <a:solidFill>
                  <a:schemeClr val="dk1"/>
                </a:solidFill>
              </a:rPr>
              <a:t> 다이어그램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93" name="Google Shape;193;p24"/>
          <p:cNvSpPr txBox="1"/>
          <p:nvPr>
            <p:ph idx="12" type="sldNum"/>
          </p:nvPr>
        </p:nvSpPr>
        <p:spPr>
          <a:xfrm>
            <a:off x="8595300" y="4841475"/>
            <a:ext cx="548700" cy="30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 sz="1000">
                <a:solidFill>
                  <a:srgbClr val="1F1F1F"/>
                </a:solidFill>
              </a:rPr>
              <a:t>‹#›</a:t>
            </a:fld>
            <a:endParaRPr sz="1000">
              <a:solidFill>
                <a:srgbClr val="1F1F1F"/>
              </a:solidFill>
            </a:endParaRPr>
          </a:p>
        </p:txBody>
      </p:sp>
      <p:pic>
        <p:nvPicPr>
          <p:cNvPr id="194" name="Google Shape;194;p24" title="seqeunc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30925" y="335850"/>
            <a:ext cx="4282147" cy="44717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25"/>
          <p:cNvSpPr txBox="1"/>
          <p:nvPr/>
        </p:nvSpPr>
        <p:spPr>
          <a:xfrm>
            <a:off x="695325" y="381000"/>
            <a:ext cx="1028700" cy="30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700" lIns="0" spcFirstLastPara="1" rIns="0" wrap="square" tIns="5700">
            <a:noAutofit/>
          </a:bodyPr>
          <a:lstStyle/>
          <a:p>
            <a:pPr indent="0" lvl="0" marL="0" rtl="0" algn="ctr">
              <a:lnSpc>
                <a:spcPct val="1078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>
                <a:solidFill>
                  <a:schemeClr val="lt1"/>
                </a:solidFill>
              </a:rPr>
              <a:t>CHAPTER 3</a:t>
            </a:r>
            <a:endParaRPr sz="11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0789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ko" sz="1100">
                <a:solidFill>
                  <a:schemeClr val="lt1"/>
                </a:solidFill>
              </a:rPr>
              <a:t>설계</a:t>
            </a:r>
            <a:endParaRPr sz="1100">
              <a:solidFill>
                <a:schemeClr val="lt1"/>
              </a:solidFill>
            </a:endParaRPr>
          </a:p>
        </p:txBody>
      </p:sp>
      <p:sp>
        <p:nvSpPr>
          <p:cNvPr id="200" name="Google Shape;200;p25"/>
          <p:cNvSpPr txBox="1"/>
          <p:nvPr>
            <p:ph idx="12" type="sldNum"/>
          </p:nvPr>
        </p:nvSpPr>
        <p:spPr>
          <a:xfrm>
            <a:off x="8595300" y="4833900"/>
            <a:ext cx="548700" cy="30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 sz="1000">
                <a:solidFill>
                  <a:srgbClr val="1F1F1F"/>
                </a:solidFill>
              </a:rPr>
              <a:t>‹#›</a:t>
            </a:fld>
            <a:endParaRPr sz="1000">
              <a:solidFill>
                <a:srgbClr val="1F1F1F"/>
              </a:solidFill>
            </a:endParaRPr>
          </a:p>
        </p:txBody>
      </p:sp>
      <p:pic>
        <p:nvPicPr>
          <p:cNvPr id="201" name="Google Shape;201;p25" title="2. 로봇 이동 및 장애물 회피.png"/>
          <p:cNvPicPr preferRelativeResize="0"/>
          <p:nvPr/>
        </p:nvPicPr>
        <p:blipFill rotWithShape="1">
          <a:blip r:embed="rId3">
            <a:alphaModFix/>
          </a:blip>
          <a:srcRect b="0" l="2884" r="3184" t="19556"/>
          <a:stretch/>
        </p:blipFill>
        <p:spPr>
          <a:xfrm>
            <a:off x="1110575" y="1032550"/>
            <a:ext cx="6922849" cy="3336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2" name="Google Shape;202;p25"/>
          <p:cNvSpPr txBox="1"/>
          <p:nvPr/>
        </p:nvSpPr>
        <p:spPr>
          <a:xfrm>
            <a:off x="2870625" y="304950"/>
            <a:ext cx="3721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45720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1800">
                <a:solidFill>
                  <a:schemeClr val="dk2"/>
                </a:solidFill>
              </a:rPr>
              <a:t>1. </a:t>
            </a:r>
            <a:r>
              <a:rPr b="1" lang="ko" sz="1800">
                <a:solidFill>
                  <a:schemeClr val="dk2"/>
                </a:solidFill>
              </a:rPr>
              <a:t>로봇 이동 및 장애물 회피</a:t>
            </a:r>
            <a:endParaRPr b="1"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26"/>
          <p:cNvSpPr txBox="1"/>
          <p:nvPr/>
        </p:nvSpPr>
        <p:spPr>
          <a:xfrm>
            <a:off x="695325" y="381000"/>
            <a:ext cx="1028700" cy="30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700" lIns="0" spcFirstLastPara="1" rIns="0" wrap="square" tIns="5700">
            <a:noAutofit/>
          </a:bodyPr>
          <a:lstStyle/>
          <a:p>
            <a:pPr indent="0" lvl="0" marL="0" rtl="0" algn="ctr">
              <a:lnSpc>
                <a:spcPct val="1078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>
                <a:solidFill>
                  <a:schemeClr val="lt1"/>
                </a:solidFill>
              </a:rPr>
              <a:t>CHAPTER 3</a:t>
            </a:r>
            <a:endParaRPr sz="11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0789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ko" sz="1100">
                <a:solidFill>
                  <a:schemeClr val="lt1"/>
                </a:solidFill>
              </a:rPr>
              <a:t>설계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id="208" name="Google Shape;208;p26" title="1. 인식 입력 구조.png"/>
          <p:cNvPicPr preferRelativeResize="0"/>
          <p:nvPr/>
        </p:nvPicPr>
        <p:blipFill rotWithShape="1">
          <a:blip r:embed="rId3">
            <a:alphaModFix/>
          </a:blip>
          <a:srcRect b="0" l="3726" r="0" t="18871"/>
          <a:stretch/>
        </p:blipFill>
        <p:spPr>
          <a:xfrm>
            <a:off x="1024175" y="1011850"/>
            <a:ext cx="7095650" cy="3365275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26"/>
          <p:cNvSpPr txBox="1"/>
          <p:nvPr>
            <p:ph idx="12" type="sldNum"/>
          </p:nvPr>
        </p:nvSpPr>
        <p:spPr>
          <a:xfrm>
            <a:off x="8595300" y="4801149"/>
            <a:ext cx="548700" cy="342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 sz="1000">
                <a:solidFill>
                  <a:srgbClr val="1F1F1F"/>
                </a:solidFill>
              </a:rPr>
              <a:t>‹#›</a:t>
            </a:fld>
            <a:endParaRPr sz="1000">
              <a:solidFill>
                <a:srgbClr val="1F1F1F"/>
              </a:solidFill>
            </a:endParaRPr>
          </a:p>
        </p:txBody>
      </p:sp>
      <p:sp>
        <p:nvSpPr>
          <p:cNvPr id="210" name="Google Shape;210;p26"/>
          <p:cNvSpPr txBox="1"/>
          <p:nvPr/>
        </p:nvSpPr>
        <p:spPr>
          <a:xfrm>
            <a:off x="2870625" y="304950"/>
            <a:ext cx="3721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1800">
                <a:solidFill>
                  <a:schemeClr val="dk2"/>
                </a:solidFill>
              </a:rPr>
              <a:t>2. 객체 인식</a:t>
            </a:r>
            <a:endParaRPr b="1"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27"/>
          <p:cNvSpPr txBox="1"/>
          <p:nvPr/>
        </p:nvSpPr>
        <p:spPr>
          <a:xfrm>
            <a:off x="695325" y="381000"/>
            <a:ext cx="1028700" cy="30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700" lIns="0" spcFirstLastPara="1" rIns="0" wrap="square" tIns="5700">
            <a:noAutofit/>
          </a:bodyPr>
          <a:lstStyle/>
          <a:p>
            <a:pPr indent="0" lvl="0" marL="0" rtl="0" algn="ctr">
              <a:lnSpc>
                <a:spcPct val="1078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>
                <a:solidFill>
                  <a:schemeClr val="lt1"/>
                </a:solidFill>
              </a:rPr>
              <a:t>CHAPTER 3</a:t>
            </a:r>
            <a:endParaRPr sz="11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0789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ko" sz="1100">
                <a:solidFill>
                  <a:schemeClr val="lt1"/>
                </a:solidFill>
              </a:rPr>
              <a:t>설계</a:t>
            </a:r>
            <a:endParaRPr sz="1100">
              <a:solidFill>
                <a:schemeClr val="lt1"/>
              </a:solidFill>
            </a:endParaRPr>
          </a:p>
        </p:txBody>
      </p:sp>
      <p:sp>
        <p:nvSpPr>
          <p:cNvPr id="216" name="Google Shape;216;p27"/>
          <p:cNvSpPr txBox="1"/>
          <p:nvPr>
            <p:ph idx="12" type="sldNum"/>
          </p:nvPr>
        </p:nvSpPr>
        <p:spPr>
          <a:xfrm>
            <a:off x="8595300" y="4801149"/>
            <a:ext cx="548700" cy="342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 sz="1000">
                <a:solidFill>
                  <a:srgbClr val="1F1F1F"/>
                </a:solidFill>
              </a:rPr>
              <a:t>‹#›</a:t>
            </a:fld>
            <a:endParaRPr sz="1000">
              <a:solidFill>
                <a:srgbClr val="1F1F1F"/>
              </a:solidFill>
            </a:endParaRPr>
          </a:p>
        </p:txBody>
      </p:sp>
      <p:pic>
        <p:nvPicPr>
          <p:cNvPr id="217" name="Google Shape;217;p27" title="3. 사진 촬영 및 이벤트.png"/>
          <p:cNvPicPr preferRelativeResize="0"/>
          <p:nvPr/>
        </p:nvPicPr>
        <p:blipFill rotWithShape="1">
          <a:blip r:embed="rId3">
            <a:alphaModFix/>
          </a:blip>
          <a:srcRect b="0" l="3250" r="2809" t="14807"/>
          <a:stretch/>
        </p:blipFill>
        <p:spPr>
          <a:xfrm>
            <a:off x="1110150" y="1232725"/>
            <a:ext cx="6923702" cy="3533925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27"/>
          <p:cNvSpPr txBox="1"/>
          <p:nvPr/>
        </p:nvSpPr>
        <p:spPr>
          <a:xfrm>
            <a:off x="2870625" y="304950"/>
            <a:ext cx="3721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1800">
                <a:solidFill>
                  <a:schemeClr val="dk2"/>
                </a:solidFill>
              </a:rPr>
              <a:t>3. 카메라 제어 흐름.</a:t>
            </a:r>
            <a:endParaRPr b="1"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8"/>
          <p:cNvSpPr txBox="1"/>
          <p:nvPr/>
        </p:nvSpPr>
        <p:spPr>
          <a:xfrm>
            <a:off x="695325" y="381000"/>
            <a:ext cx="1028700" cy="30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700" lIns="0" spcFirstLastPara="1" rIns="0" wrap="square" tIns="5700">
            <a:noAutofit/>
          </a:bodyPr>
          <a:lstStyle/>
          <a:p>
            <a:pPr indent="0" lvl="0" marL="0" rtl="0" algn="ctr">
              <a:lnSpc>
                <a:spcPct val="1078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>
                <a:solidFill>
                  <a:schemeClr val="lt1"/>
                </a:solidFill>
              </a:rPr>
              <a:t>CHAPTER 3</a:t>
            </a:r>
            <a:endParaRPr sz="11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0789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ko" sz="1100">
                <a:solidFill>
                  <a:schemeClr val="lt1"/>
                </a:solidFill>
              </a:rPr>
              <a:t>설계</a:t>
            </a:r>
            <a:endParaRPr sz="1100">
              <a:solidFill>
                <a:schemeClr val="lt1"/>
              </a:solidFill>
            </a:endParaRPr>
          </a:p>
        </p:txBody>
      </p:sp>
      <p:sp>
        <p:nvSpPr>
          <p:cNvPr id="224" name="Google Shape;224;p28"/>
          <p:cNvSpPr txBox="1"/>
          <p:nvPr>
            <p:ph idx="12" type="sldNum"/>
          </p:nvPr>
        </p:nvSpPr>
        <p:spPr>
          <a:xfrm>
            <a:off x="8595300" y="4801149"/>
            <a:ext cx="548700" cy="342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 sz="1000">
                <a:solidFill>
                  <a:srgbClr val="1F1F1F"/>
                </a:solidFill>
              </a:rPr>
              <a:t>‹#›</a:t>
            </a:fld>
            <a:endParaRPr sz="1000">
              <a:solidFill>
                <a:srgbClr val="1F1F1F"/>
              </a:solidFill>
            </a:endParaRPr>
          </a:p>
        </p:txBody>
      </p:sp>
      <p:pic>
        <p:nvPicPr>
          <p:cNvPr id="225" name="Google Shape;225;p28" title="4. 저장 흐름..png"/>
          <p:cNvPicPr preferRelativeResize="0"/>
          <p:nvPr/>
        </p:nvPicPr>
        <p:blipFill rotWithShape="1">
          <a:blip r:embed="rId3">
            <a:alphaModFix/>
          </a:blip>
          <a:srcRect b="0" l="2386" r="2185" t="7561"/>
          <a:stretch/>
        </p:blipFill>
        <p:spPr>
          <a:xfrm>
            <a:off x="1055350" y="880725"/>
            <a:ext cx="7033301" cy="3834300"/>
          </a:xfrm>
          <a:prstGeom prst="rect">
            <a:avLst/>
          </a:prstGeom>
          <a:noFill/>
          <a:ln>
            <a:noFill/>
          </a:ln>
        </p:spPr>
      </p:pic>
      <p:sp>
        <p:nvSpPr>
          <p:cNvPr id="226" name="Google Shape;226;p28"/>
          <p:cNvSpPr txBox="1"/>
          <p:nvPr/>
        </p:nvSpPr>
        <p:spPr>
          <a:xfrm>
            <a:off x="2870625" y="304950"/>
            <a:ext cx="3721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1800">
                <a:solidFill>
                  <a:schemeClr val="dk2"/>
                </a:solidFill>
              </a:rPr>
              <a:t>4. 사진 분석 및 데이터 저장</a:t>
            </a:r>
            <a:endParaRPr b="1"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29"/>
          <p:cNvSpPr txBox="1"/>
          <p:nvPr/>
        </p:nvSpPr>
        <p:spPr>
          <a:xfrm>
            <a:off x="2933100" y="0"/>
            <a:ext cx="3277800" cy="36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775" lIns="0" spcFirstLastPara="1" rIns="0" wrap="square" tIns="6775">
            <a:noAutofit/>
          </a:bodyPr>
          <a:lstStyle/>
          <a:p>
            <a:pPr indent="0" lvl="0" marL="0" marR="0" rtl="0" algn="ctr">
              <a:lnSpc>
                <a:spcPct val="1078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1100">
                <a:solidFill>
                  <a:schemeClr val="dk1"/>
                </a:solidFill>
              </a:rPr>
              <a:t>구현결과 - ROS</a:t>
            </a:r>
            <a:endParaRPr b="1" sz="1100">
              <a:solidFill>
                <a:schemeClr val="dk1"/>
              </a:solidFill>
            </a:endParaRPr>
          </a:p>
        </p:txBody>
      </p:sp>
      <p:sp>
        <p:nvSpPr>
          <p:cNvPr id="232" name="Google Shape;232;p29"/>
          <p:cNvSpPr txBox="1"/>
          <p:nvPr>
            <p:ph idx="12" type="sldNum"/>
          </p:nvPr>
        </p:nvSpPr>
        <p:spPr>
          <a:xfrm>
            <a:off x="8595300" y="4841475"/>
            <a:ext cx="548700" cy="30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 sz="1000">
                <a:solidFill>
                  <a:srgbClr val="1F1F1F"/>
                </a:solidFill>
              </a:rPr>
              <a:t>‹#›</a:t>
            </a:fld>
            <a:endParaRPr sz="1000">
              <a:solidFill>
                <a:srgbClr val="1F1F1F"/>
              </a:solidFill>
            </a:endParaRPr>
          </a:p>
        </p:txBody>
      </p:sp>
      <p:pic>
        <p:nvPicPr>
          <p:cNvPr id="233" name="Google Shape;233;p29" title="로봇 구동 영상딱히 편집할 게 없음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8650" y="366900"/>
            <a:ext cx="8027432" cy="4515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30"/>
          <p:cNvSpPr txBox="1"/>
          <p:nvPr/>
        </p:nvSpPr>
        <p:spPr>
          <a:xfrm>
            <a:off x="2933100" y="0"/>
            <a:ext cx="3277800" cy="36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775" lIns="0" spcFirstLastPara="1" rIns="0" wrap="square" tIns="6775">
            <a:noAutofit/>
          </a:bodyPr>
          <a:lstStyle/>
          <a:p>
            <a:pPr indent="0" lvl="0" marL="0" rtl="0" algn="ctr">
              <a:lnSpc>
                <a:spcPct val="1078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>
                <a:solidFill>
                  <a:schemeClr val="dk1"/>
                </a:solidFill>
              </a:rPr>
              <a:t>구현결과 - 서버 및 데이터 베이스.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239" name="Google Shape;239;p30"/>
          <p:cNvSpPr txBox="1"/>
          <p:nvPr>
            <p:ph idx="12" type="sldNum"/>
          </p:nvPr>
        </p:nvSpPr>
        <p:spPr>
          <a:xfrm>
            <a:off x="8595300" y="4841475"/>
            <a:ext cx="548700" cy="30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 sz="1000">
                <a:solidFill>
                  <a:srgbClr val="1F1F1F"/>
                </a:solidFill>
              </a:rPr>
              <a:t>‹#›</a:t>
            </a:fld>
            <a:endParaRPr sz="1000">
              <a:solidFill>
                <a:srgbClr val="1F1F1F"/>
              </a:solidFill>
            </a:endParaRPr>
          </a:p>
        </p:txBody>
      </p:sp>
      <p:pic>
        <p:nvPicPr>
          <p:cNvPr id="240" name="Google Shape;240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9963" y="332950"/>
            <a:ext cx="8424074" cy="4169776"/>
          </a:xfrm>
          <a:prstGeom prst="rect">
            <a:avLst/>
          </a:prstGeom>
          <a:noFill/>
          <a:ln>
            <a:noFill/>
          </a:ln>
        </p:spPr>
      </p:pic>
      <p:sp>
        <p:nvSpPr>
          <p:cNvPr id="241" name="Google Shape;241;p30"/>
          <p:cNvSpPr txBox="1"/>
          <p:nvPr/>
        </p:nvSpPr>
        <p:spPr>
          <a:xfrm>
            <a:off x="1034625" y="2571750"/>
            <a:ext cx="135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lt1"/>
                </a:solidFill>
              </a:rPr>
              <a:t>로컬 서버</a:t>
            </a:r>
            <a:endParaRPr sz="1800">
              <a:solidFill>
                <a:schemeClr val="lt1"/>
              </a:solidFill>
            </a:endParaRPr>
          </a:p>
        </p:txBody>
      </p:sp>
      <p:sp>
        <p:nvSpPr>
          <p:cNvPr id="242" name="Google Shape;242;p30"/>
          <p:cNvSpPr txBox="1"/>
          <p:nvPr/>
        </p:nvSpPr>
        <p:spPr>
          <a:xfrm>
            <a:off x="3837450" y="2385950"/>
            <a:ext cx="135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lt1"/>
                </a:solidFill>
              </a:rPr>
              <a:t>웹 뷰</a:t>
            </a:r>
            <a:endParaRPr sz="1800">
              <a:solidFill>
                <a:schemeClr val="lt1"/>
              </a:solidFill>
            </a:endParaRPr>
          </a:p>
        </p:txBody>
      </p:sp>
      <p:sp>
        <p:nvSpPr>
          <p:cNvPr id="243" name="Google Shape;243;p30"/>
          <p:cNvSpPr txBox="1"/>
          <p:nvPr/>
        </p:nvSpPr>
        <p:spPr>
          <a:xfrm>
            <a:off x="6716200" y="3200950"/>
            <a:ext cx="1752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lt1"/>
                </a:solidFill>
              </a:rPr>
              <a:t>로컬 </a:t>
            </a:r>
            <a:r>
              <a:rPr lang="ko" sz="1800">
                <a:solidFill>
                  <a:schemeClr val="lt1"/>
                </a:solidFill>
              </a:rPr>
              <a:t>DB 서버</a:t>
            </a:r>
            <a:endParaRPr sz="18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1"/>
          <p:cNvSpPr txBox="1"/>
          <p:nvPr/>
        </p:nvSpPr>
        <p:spPr>
          <a:xfrm>
            <a:off x="2933100" y="0"/>
            <a:ext cx="3277800" cy="36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775" lIns="0" spcFirstLastPara="1" rIns="0" wrap="square" tIns="6775">
            <a:noAutofit/>
          </a:bodyPr>
          <a:lstStyle/>
          <a:p>
            <a:pPr indent="0" lvl="0" marL="0" rtl="0" algn="ctr">
              <a:lnSpc>
                <a:spcPct val="1078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>
                <a:solidFill>
                  <a:schemeClr val="dk1"/>
                </a:solidFill>
              </a:rPr>
              <a:t>구현결과 - 서버 및 데이터 베이스.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249" name="Google Shape;249;p31"/>
          <p:cNvSpPr txBox="1"/>
          <p:nvPr>
            <p:ph idx="12" type="sldNum"/>
          </p:nvPr>
        </p:nvSpPr>
        <p:spPr>
          <a:xfrm>
            <a:off x="8595300" y="4841475"/>
            <a:ext cx="548700" cy="30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 sz="1000">
                <a:solidFill>
                  <a:srgbClr val="1F1F1F"/>
                </a:solidFill>
              </a:rPr>
              <a:t>‹#›</a:t>
            </a:fld>
            <a:endParaRPr sz="1000">
              <a:solidFill>
                <a:srgbClr val="1F1F1F"/>
              </a:solidFill>
            </a:endParaRPr>
          </a:p>
        </p:txBody>
      </p:sp>
      <p:pic>
        <p:nvPicPr>
          <p:cNvPr id="250" name="Google Shape;250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2550" y="326025"/>
            <a:ext cx="8517442" cy="4169775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31"/>
          <p:cNvSpPr txBox="1"/>
          <p:nvPr/>
        </p:nvSpPr>
        <p:spPr>
          <a:xfrm>
            <a:off x="1034625" y="2571750"/>
            <a:ext cx="135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lt1"/>
                </a:solidFill>
              </a:rPr>
              <a:t>로컬 서버</a:t>
            </a:r>
            <a:endParaRPr sz="1800">
              <a:solidFill>
                <a:schemeClr val="lt1"/>
              </a:solidFill>
            </a:endParaRPr>
          </a:p>
        </p:txBody>
      </p:sp>
      <p:sp>
        <p:nvSpPr>
          <p:cNvPr id="252" name="Google Shape;252;p31"/>
          <p:cNvSpPr txBox="1"/>
          <p:nvPr/>
        </p:nvSpPr>
        <p:spPr>
          <a:xfrm>
            <a:off x="3796050" y="2571750"/>
            <a:ext cx="135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lt1"/>
                </a:solidFill>
              </a:rPr>
              <a:t>웹 뷰</a:t>
            </a:r>
            <a:endParaRPr sz="1800">
              <a:solidFill>
                <a:schemeClr val="lt1"/>
              </a:solidFill>
            </a:endParaRPr>
          </a:p>
        </p:txBody>
      </p:sp>
      <p:sp>
        <p:nvSpPr>
          <p:cNvPr id="253" name="Google Shape;253;p31"/>
          <p:cNvSpPr txBox="1"/>
          <p:nvPr/>
        </p:nvSpPr>
        <p:spPr>
          <a:xfrm>
            <a:off x="6716200" y="3200950"/>
            <a:ext cx="1752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lt1"/>
                </a:solidFill>
              </a:rPr>
              <a:t>로컬 DB 서버</a:t>
            </a:r>
            <a:endParaRPr sz="18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32"/>
          <p:cNvSpPr txBox="1"/>
          <p:nvPr/>
        </p:nvSpPr>
        <p:spPr>
          <a:xfrm>
            <a:off x="2933100" y="0"/>
            <a:ext cx="3277800" cy="36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775" lIns="0" spcFirstLastPara="1" rIns="0" wrap="square" tIns="6775">
            <a:noAutofit/>
          </a:bodyPr>
          <a:lstStyle/>
          <a:p>
            <a:pPr indent="0" lvl="0" marL="0" rtl="0" algn="ctr">
              <a:lnSpc>
                <a:spcPct val="1078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>
                <a:solidFill>
                  <a:schemeClr val="dk1"/>
                </a:solidFill>
              </a:rPr>
              <a:t>구현결과 - 서버 및 데이터 베이스.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259" name="Google Shape;259;p32"/>
          <p:cNvSpPr txBox="1"/>
          <p:nvPr>
            <p:ph idx="12" type="sldNum"/>
          </p:nvPr>
        </p:nvSpPr>
        <p:spPr>
          <a:xfrm>
            <a:off x="8595300" y="4841475"/>
            <a:ext cx="548700" cy="30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 sz="1000">
                <a:solidFill>
                  <a:srgbClr val="1F1F1F"/>
                </a:solidFill>
              </a:rPr>
              <a:t>‹#›</a:t>
            </a:fld>
            <a:endParaRPr sz="1000">
              <a:solidFill>
                <a:srgbClr val="1F1F1F"/>
              </a:solidFill>
            </a:endParaRPr>
          </a:p>
        </p:txBody>
      </p:sp>
      <p:pic>
        <p:nvPicPr>
          <p:cNvPr id="260" name="Google Shape;260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7775" y="326050"/>
            <a:ext cx="8424501" cy="4169774"/>
          </a:xfrm>
          <a:prstGeom prst="rect">
            <a:avLst/>
          </a:prstGeom>
          <a:noFill/>
          <a:ln>
            <a:noFill/>
          </a:ln>
        </p:spPr>
      </p:pic>
      <p:sp>
        <p:nvSpPr>
          <p:cNvPr id="261" name="Google Shape;261;p32"/>
          <p:cNvSpPr txBox="1"/>
          <p:nvPr/>
        </p:nvSpPr>
        <p:spPr>
          <a:xfrm>
            <a:off x="1034625" y="2571750"/>
            <a:ext cx="135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lt1"/>
                </a:solidFill>
              </a:rPr>
              <a:t>로컬 서버</a:t>
            </a:r>
            <a:endParaRPr sz="1800">
              <a:solidFill>
                <a:schemeClr val="lt1"/>
              </a:solidFill>
            </a:endParaRPr>
          </a:p>
        </p:txBody>
      </p:sp>
      <p:sp>
        <p:nvSpPr>
          <p:cNvPr id="262" name="Google Shape;262;p32"/>
          <p:cNvSpPr txBox="1"/>
          <p:nvPr/>
        </p:nvSpPr>
        <p:spPr>
          <a:xfrm>
            <a:off x="3796050" y="2571750"/>
            <a:ext cx="135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lt1"/>
                </a:solidFill>
              </a:rPr>
              <a:t>웹 뷰</a:t>
            </a:r>
            <a:endParaRPr sz="1800">
              <a:solidFill>
                <a:schemeClr val="lt1"/>
              </a:solidFill>
            </a:endParaRPr>
          </a:p>
        </p:txBody>
      </p:sp>
      <p:sp>
        <p:nvSpPr>
          <p:cNvPr id="263" name="Google Shape;263;p32"/>
          <p:cNvSpPr txBox="1"/>
          <p:nvPr/>
        </p:nvSpPr>
        <p:spPr>
          <a:xfrm>
            <a:off x="6716200" y="3200950"/>
            <a:ext cx="1752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lt1"/>
                </a:solidFill>
              </a:rPr>
              <a:t>로컬 DB 서버</a:t>
            </a:r>
            <a:endParaRPr sz="18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8" name="Google Shape;268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68025" y="999725"/>
            <a:ext cx="2952751" cy="2952751"/>
          </a:xfrm>
          <a:prstGeom prst="rect">
            <a:avLst/>
          </a:prstGeom>
          <a:noFill/>
          <a:ln>
            <a:noFill/>
          </a:ln>
        </p:spPr>
      </p:pic>
      <p:pic>
        <p:nvPicPr>
          <p:cNvPr id="269" name="Google Shape;269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415688" y="1347388"/>
            <a:ext cx="2257425" cy="2257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70" name="Google Shape;270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615713" y="1547413"/>
            <a:ext cx="1852613" cy="1852613"/>
          </a:xfrm>
          <a:prstGeom prst="rect">
            <a:avLst/>
          </a:prstGeom>
          <a:noFill/>
          <a:ln>
            <a:noFill/>
          </a:ln>
        </p:spPr>
      </p:pic>
      <p:sp>
        <p:nvSpPr>
          <p:cNvPr id="271" name="Google Shape;271;p33"/>
          <p:cNvSpPr txBox="1"/>
          <p:nvPr/>
        </p:nvSpPr>
        <p:spPr>
          <a:xfrm>
            <a:off x="3728075" y="2064800"/>
            <a:ext cx="1637400" cy="75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61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>
                <a:solidFill>
                  <a:srgbClr val="FFFFFF"/>
                </a:solidFill>
              </a:rPr>
              <a:t>자율 이동부터 이벤트 감지·촬영·기록까지 수행하는 ROS 기반 자동 순찰 데이터 수집 로봇 </a:t>
            </a:r>
            <a:r>
              <a:rPr lang="ko" sz="1100">
                <a:solidFill>
                  <a:srgbClr val="FFFFFF"/>
                </a:solidFill>
              </a:rPr>
              <a:t> </a:t>
            </a:r>
            <a:endParaRPr sz="1100">
              <a:solidFill>
                <a:srgbClr val="FFFFFF"/>
              </a:solidFill>
            </a:endParaRPr>
          </a:p>
        </p:txBody>
      </p:sp>
      <p:pic>
        <p:nvPicPr>
          <p:cNvPr id="272" name="Google Shape;272;p3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2825138" y="1309288"/>
            <a:ext cx="714375" cy="714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73" name="Google Shape;273;p33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825138" y="3023788"/>
            <a:ext cx="714375" cy="714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74" name="Google Shape;274;p33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5549288" y="1309288"/>
            <a:ext cx="714375" cy="714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75" name="Google Shape;275;p33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5544525" y="3019025"/>
            <a:ext cx="714375" cy="714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76" name="Google Shape;276;p33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4506300" y="928288"/>
            <a:ext cx="80963" cy="138112"/>
          </a:xfrm>
          <a:prstGeom prst="rect">
            <a:avLst/>
          </a:prstGeom>
          <a:noFill/>
          <a:ln>
            <a:noFill/>
          </a:ln>
        </p:spPr>
      </p:pic>
      <p:pic>
        <p:nvPicPr>
          <p:cNvPr id="277" name="Google Shape;277;p33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4506300" y="3881038"/>
            <a:ext cx="80963" cy="138112"/>
          </a:xfrm>
          <a:prstGeom prst="rect">
            <a:avLst/>
          </a:prstGeom>
          <a:noFill/>
          <a:ln>
            <a:noFill/>
          </a:ln>
        </p:spPr>
      </p:pic>
      <p:pic>
        <p:nvPicPr>
          <p:cNvPr id="278" name="Google Shape;278;p33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 rot="5400000">
            <a:off x="5982675" y="2404663"/>
            <a:ext cx="80963" cy="138112"/>
          </a:xfrm>
          <a:prstGeom prst="rect">
            <a:avLst/>
          </a:prstGeom>
          <a:noFill/>
          <a:ln>
            <a:noFill/>
          </a:ln>
        </p:spPr>
      </p:pic>
      <p:pic>
        <p:nvPicPr>
          <p:cNvPr id="279" name="Google Shape;279;p33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 rot="-5400000">
            <a:off x="3029925" y="2404663"/>
            <a:ext cx="80963" cy="138112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33"/>
          <p:cNvPicPr preferRelativeResize="0"/>
          <p:nvPr/>
        </p:nvPicPr>
        <p:blipFill rotWithShape="1">
          <a:blip r:embed="rId14">
            <a:alphaModFix/>
          </a:blip>
          <a:srcRect b="0" l="0" r="0" t="0"/>
          <a:stretch/>
        </p:blipFill>
        <p:spPr>
          <a:xfrm>
            <a:off x="3006113" y="3200000"/>
            <a:ext cx="357188" cy="357188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33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3006113" y="1485500"/>
            <a:ext cx="357188" cy="357188"/>
          </a:xfrm>
          <a:prstGeom prst="rect">
            <a:avLst/>
          </a:prstGeom>
          <a:noFill/>
          <a:ln>
            <a:noFill/>
          </a:ln>
        </p:spPr>
      </p:pic>
      <p:pic>
        <p:nvPicPr>
          <p:cNvPr id="282" name="Google Shape;282;p33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5725500" y="1485500"/>
            <a:ext cx="357188" cy="357188"/>
          </a:xfrm>
          <a:prstGeom prst="rect">
            <a:avLst/>
          </a:prstGeom>
          <a:noFill/>
          <a:ln>
            <a:noFill/>
          </a:ln>
        </p:spPr>
      </p:pic>
      <p:pic>
        <p:nvPicPr>
          <p:cNvPr id="283" name="Google Shape;283;p33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5720738" y="3195238"/>
            <a:ext cx="357188" cy="357188"/>
          </a:xfrm>
          <a:prstGeom prst="rect">
            <a:avLst/>
          </a:prstGeom>
          <a:noFill/>
          <a:ln>
            <a:noFill/>
          </a:ln>
        </p:spPr>
      </p:pic>
      <p:sp>
        <p:nvSpPr>
          <p:cNvPr id="284" name="Google Shape;284;p33"/>
          <p:cNvSpPr txBox="1"/>
          <p:nvPr/>
        </p:nvSpPr>
        <p:spPr>
          <a:xfrm>
            <a:off x="1629750" y="1371200"/>
            <a:ext cx="1076400" cy="18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675" lIns="0" spcFirstLastPara="1" rIns="0" wrap="square" tIns="126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100">
                <a:solidFill>
                  <a:schemeClr val="dk1"/>
                </a:solidFill>
              </a:rPr>
              <a:t>위험 현장 탐사</a:t>
            </a:r>
            <a:endParaRPr sz="500"/>
          </a:p>
        </p:txBody>
      </p:sp>
      <p:sp>
        <p:nvSpPr>
          <p:cNvPr id="285" name="Google Shape;285;p33"/>
          <p:cNvSpPr txBox="1"/>
          <p:nvPr/>
        </p:nvSpPr>
        <p:spPr>
          <a:xfrm>
            <a:off x="879725" y="1592052"/>
            <a:ext cx="18192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ko" sz="900">
                <a:solidFill>
                  <a:srgbClr val="2C2C2C"/>
                </a:solidFill>
              </a:rPr>
              <a:t>사람이 직접 접근하기 어려운 위험 구역을 이동하며 화재, 연기, 장애물 등 이상 상황을 감지 </a:t>
            </a:r>
            <a:endParaRPr sz="900">
              <a:solidFill>
                <a:srgbClr val="2C2C2C"/>
              </a:solidFill>
            </a:endParaRPr>
          </a:p>
        </p:txBody>
      </p:sp>
      <p:sp>
        <p:nvSpPr>
          <p:cNvPr id="286" name="Google Shape;286;p33"/>
          <p:cNvSpPr txBox="1"/>
          <p:nvPr/>
        </p:nvSpPr>
        <p:spPr>
          <a:xfrm>
            <a:off x="1629750" y="3080938"/>
            <a:ext cx="1076400" cy="18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675" lIns="0" spcFirstLastPara="1" rIns="0" wrap="square" tIns="126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100">
                <a:solidFill>
                  <a:schemeClr val="dk1"/>
                </a:solidFill>
              </a:rPr>
              <a:t>자율 순찰</a:t>
            </a:r>
            <a:endParaRPr sz="500"/>
          </a:p>
        </p:txBody>
      </p:sp>
      <p:sp>
        <p:nvSpPr>
          <p:cNvPr id="287" name="Google Shape;287;p33"/>
          <p:cNvSpPr txBox="1"/>
          <p:nvPr/>
        </p:nvSpPr>
        <p:spPr>
          <a:xfrm>
            <a:off x="877213" y="3306925"/>
            <a:ext cx="1871700" cy="29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ko" sz="900">
                <a:solidFill>
                  <a:schemeClr val="dk1"/>
                </a:solidFill>
              </a:rPr>
              <a:t>정해진 구역을 반복 이동하며 이상 상황 발생 시 정지·촬영·기록을 자동 수행 </a:t>
            </a:r>
            <a:endParaRPr sz="900">
              <a:solidFill>
                <a:srgbClr val="2C2C2C"/>
              </a:solidFill>
            </a:endParaRPr>
          </a:p>
        </p:txBody>
      </p:sp>
      <p:sp>
        <p:nvSpPr>
          <p:cNvPr id="288" name="Google Shape;288;p33"/>
          <p:cNvSpPr txBox="1"/>
          <p:nvPr/>
        </p:nvSpPr>
        <p:spPr>
          <a:xfrm>
            <a:off x="6349388" y="1371200"/>
            <a:ext cx="1057200" cy="18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675" lIns="0" spcFirstLastPara="1" rIns="0" wrap="square" tIns="126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100">
                <a:solidFill>
                  <a:schemeClr val="dk1"/>
                </a:solidFill>
              </a:rPr>
              <a:t>데이터셋 수집</a:t>
            </a:r>
            <a:endParaRPr sz="500"/>
          </a:p>
        </p:txBody>
      </p:sp>
      <p:sp>
        <p:nvSpPr>
          <p:cNvPr id="289" name="Google Shape;289;p33"/>
          <p:cNvSpPr txBox="1"/>
          <p:nvPr/>
        </p:nvSpPr>
        <p:spPr>
          <a:xfrm>
            <a:off x="6344628" y="1571200"/>
            <a:ext cx="2257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ko" sz="900">
                <a:solidFill>
                  <a:srgbClr val="2C2C2C"/>
                </a:solidFill>
              </a:rPr>
              <a:t>주행 중 촬영한 이미지와 위치·시간·이벤트 정보를 함께 저장하여 분석 및 학습용 데이터로 활용 </a:t>
            </a:r>
            <a:endParaRPr sz="900">
              <a:solidFill>
                <a:srgbClr val="2C2C2C"/>
              </a:solidFill>
            </a:endParaRPr>
          </a:p>
        </p:txBody>
      </p:sp>
      <p:sp>
        <p:nvSpPr>
          <p:cNvPr id="290" name="Google Shape;290;p33"/>
          <p:cNvSpPr txBox="1"/>
          <p:nvPr/>
        </p:nvSpPr>
        <p:spPr>
          <a:xfrm>
            <a:off x="6392250" y="3080938"/>
            <a:ext cx="1057200" cy="18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675" lIns="0" spcFirstLastPara="1" rIns="0" wrap="square" tIns="126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100">
                <a:solidFill>
                  <a:schemeClr val="dk1"/>
                </a:solidFill>
              </a:rPr>
              <a:t>추적 촬영</a:t>
            </a:r>
            <a:endParaRPr sz="500"/>
          </a:p>
        </p:txBody>
      </p:sp>
      <p:sp>
        <p:nvSpPr>
          <p:cNvPr id="291" name="Google Shape;291;p33"/>
          <p:cNvSpPr txBox="1"/>
          <p:nvPr/>
        </p:nvSpPr>
        <p:spPr>
          <a:xfrm>
            <a:off x="6392250" y="3306925"/>
            <a:ext cx="2165700" cy="29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ko" sz="900">
                <a:solidFill>
                  <a:schemeClr val="dk1"/>
                </a:solidFill>
              </a:rPr>
              <a:t>감지된 객체 방향으로 카메라를 보정하고 이벤트 장면을 중심으로 스냅샷 촬영 </a:t>
            </a:r>
            <a:endParaRPr sz="900">
              <a:solidFill>
                <a:srgbClr val="2C2C2C"/>
              </a:solidFill>
            </a:endParaRPr>
          </a:p>
        </p:txBody>
      </p:sp>
      <p:sp>
        <p:nvSpPr>
          <p:cNvPr id="292" name="Google Shape;292;p33"/>
          <p:cNvSpPr txBox="1"/>
          <p:nvPr/>
        </p:nvSpPr>
        <p:spPr>
          <a:xfrm>
            <a:off x="2653688" y="266300"/>
            <a:ext cx="37815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925" lIns="0" spcFirstLastPara="1" rIns="0" wrap="square" tIns="349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ko" sz="27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기능 요약</a:t>
            </a:r>
            <a:endParaRPr sz="2700"/>
          </a:p>
        </p:txBody>
      </p:sp>
      <p:sp>
        <p:nvSpPr>
          <p:cNvPr id="293" name="Google Shape;293;p33"/>
          <p:cNvSpPr txBox="1"/>
          <p:nvPr/>
        </p:nvSpPr>
        <p:spPr>
          <a:xfrm>
            <a:off x="7158363" y="310100"/>
            <a:ext cx="1161900" cy="36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775" lIns="0" spcFirstLastPara="1" rIns="0" wrap="square" tIns="6775">
            <a:noAutofit/>
          </a:bodyPr>
          <a:lstStyle/>
          <a:p>
            <a:pPr indent="0" lvl="0" marL="0" marR="0" rtl="0" algn="ctr">
              <a:lnSpc>
                <a:spcPct val="1078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>
                <a:solidFill>
                  <a:srgbClr val="FFFFFF"/>
                </a:solidFill>
              </a:rPr>
              <a:t>CHAPTER 5</a:t>
            </a:r>
            <a:endParaRPr sz="1100">
              <a:solidFill>
                <a:srgbClr val="FFFFFF"/>
              </a:solidFill>
            </a:endParaRPr>
          </a:p>
          <a:p>
            <a:pPr indent="0" lvl="0" marL="0" marR="0" rtl="0" algn="ctr">
              <a:lnSpc>
                <a:spcPct val="1078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>
                <a:solidFill>
                  <a:srgbClr val="FFFFFF"/>
                </a:solidFill>
              </a:rPr>
              <a:t>프로젝트 결론</a:t>
            </a:r>
            <a:endParaRPr sz="1100">
              <a:solidFill>
                <a:srgbClr val="FFFFFF"/>
              </a:solidFill>
            </a:endParaRPr>
          </a:p>
        </p:txBody>
      </p:sp>
      <p:sp>
        <p:nvSpPr>
          <p:cNvPr id="294" name="Google Shape;294;p33"/>
          <p:cNvSpPr txBox="1"/>
          <p:nvPr/>
        </p:nvSpPr>
        <p:spPr>
          <a:xfrm>
            <a:off x="1390000" y="4019150"/>
            <a:ext cx="72714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/>
              <a:t>결론: </a:t>
            </a:r>
            <a:r>
              <a:rPr lang="ko"/>
              <a:t>본 프로젝트는 ROS 노드, 카메라 인식, 이동 제어, 서버 업로드, DB 저장 기능을 연동하여 이벤트 발생 상황을 자동으로 탐지하고 기록하는 통합 시스템을 구현하였다. </a:t>
            </a:r>
            <a:endParaRPr/>
          </a:p>
        </p:txBody>
      </p:sp>
      <p:pic>
        <p:nvPicPr>
          <p:cNvPr descr="Contract Icon, Agreement, Deal(Getty Images 제공)" id="295" name="Google Shape;295;p33"/>
          <p:cNvPicPr preferRelativeResize="0"/>
          <p:nvPr/>
        </p:nvPicPr>
        <p:blipFill>
          <a:blip r:embed="rId18">
            <a:alphaModFix/>
          </a:blip>
          <a:stretch>
            <a:fillRect/>
          </a:stretch>
        </p:blipFill>
        <p:spPr>
          <a:xfrm>
            <a:off x="545275" y="3872863"/>
            <a:ext cx="908175" cy="908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D5E5FF"/>
        </a:solid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0" name="Google Shape;300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9525" y="2571750"/>
            <a:ext cx="9153526" cy="2586038"/>
          </a:xfrm>
          <a:prstGeom prst="rect">
            <a:avLst/>
          </a:prstGeom>
          <a:noFill/>
          <a:ln>
            <a:noFill/>
          </a:ln>
        </p:spPr>
      </p:pic>
      <p:pic>
        <p:nvPicPr>
          <p:cNvPr id="301" name="Google Shape;301;p3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09563" y="285750"/>
            <a:ext cx="8520113" cy="4576763"/>
          </a:xfrm>
          <a:prstGeom prst="rect">
            <a:avLst/>
          </a:prstGeom>
          <a:noFill/>
          <a:ln>
            <a:noFill/>
          </a:ln>
        </p:spPr>
      </p:pic>
      <p:pic>
        <p:nvPicPr>
          <p:cNvPr id="302" name="Google Shape;302;p3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972300" y="209550"/>
            <a:ext cx="1414463" cy="752475"/>
          </a:xfrm>
          <a:prstGeom prst="rect">
            <a:avLst/>
          </a:prstGeom>
          <a:noFill/>
          <a:ln>
            <a:noFill/>
          </a:ln>
        </p:spPr>
      </p:pic>
      <p:sp>
        <p:nvSpPr>
          <p:cNvPr id="303" name="Google Shape;303;p34"/>
          <p:cNvSpPr txBox="1"/>
          <p:nvPr/>
        </p:nvSpPr>
        <p:spPr>
          <a:xfrm>
            <a:off x="7167563" y="395288"/>
            <a:ext cx="1033500" cy="32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025" lIns="0" spcFirstLastPara="1" rIns="0" wrap="square" tIns="6025">
            <a:noAutofit/>
          </a:bodyPr>
          <a:lstStyle/>
          <a:p>
            <a:pPr indent="0" lvl="0" marL="0" marR="0" rtl="0" algn="ctr">
              <a:lnSpc>
                <a:spcPct val="1078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 sz="900">
                <a:solidFill>
                  <a:srgbClr val="FFFFFF"/>
                </a:solidFill>
              </a:rPr>
              <a:t>프로젝트</a:t>
            </a:r>
            <a:endParaRPr sz="900">
              <a:solidFill>
                <a:srgbClr val="FFFFFF"/>
              </a:solidFill>
            </a:endParaRPr>
          </a:p>
          <a:p>
            <a:pPr indent="0" lvl="0" marL="0" marR="0" rtl="0" algn="ctr">
              <a:lnSpc>
                <a:spcPct val="1078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 sz="900">
                <a:solidFill>
                  <a:srgbClr val="FFFFFF"/>
                </a:solidFill>
              </a:rPr>
              <a:t>계획</a:t>
            </a:r>
            <a:endParaRPr sz="900">
              <a:solidFill>
                <a:srgbClr val="FFFFFF"/>
              </a:solidFill>
            </a:endParaRPr>
          </a:p>
        </p:txBody>
      </p:sp>
      <p:pic>
        <p:nvPicPr>
          <p:cNvPr id="304" name="Google Shape;304;p3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386763" y="4419600"/>
            <a:ext cx="219075" cy="204787"/>
          </a:xfrm>
          <a:prstGeom prst="rect">
            <a:avLst/>
          </a:prstGeom>
          <a:noFill/>
          <a:ln>
            <a:noFill/>
          </a:ln>
        </p:spPr>
      </p:pic>
      <p:pic>
        <p:nvPicPr>
          <p:cNvPr id="305" name="Google Shape;305;p3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57225" y="1028700"/>
            <a:ext cx="3086099" cy="3086099"/>
          </a:xfrm>
          <a:prstGeom prst="rect">
            <a:avLst/>
          </a:prstGeom>
          <a:noFill/>
          <a:ln>
            <a:noFill/>
          </a:ln>
        </p:spPr>
      </p:pic>
      <p:sp>
        <p:nvSpPr>
          <p:cNvPr id="306" name="Google Shape;306;p34"/>
          <p:cNvSpPr txBox="1"/>
          <p:nvPr/>
        </p:nvSpPr>
        <p:spPr>
          <a:xfrm>
            <a:off x="4205288" y="1738313"/>
            <a:ext cx="37815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61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5100" u="none" cap="none" strike="noStrike">
                <a:solidFill>
                  <a:srgbClr val="00074E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Thank You!</a:t>
            </a:r>
            <a:endParaRPr sz="5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