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3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9"/>
        <p:guide pos="2159"/>
      </p:guideLst>
    </p:cSldViewPr>
  </p:notes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daec226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ecdaec226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cdaec2260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cdaec2260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cdaec2260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cdaec2260_2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cdaec2260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cdaec2260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daec2260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cdaec2260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daec2260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cdaec2260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daec2260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cdaec2260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daec2260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cdaec226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cdaec2260_2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cdaec2260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daec2260_2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cdaec2260_2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daec2260_2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cdaec2260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cdaec2260_2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cdaec2260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cdbd3d9f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cdbd3d9f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cdbd3d9f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cdbd3d9f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cdaec2260_2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cdaec2260_2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cdaec2260_2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cdaec2260_2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cdaec2260_2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cdaec2260_2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cdaec2260_2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ecdaec2260_2_4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png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5.png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header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body" type="tx">
  <p:cSld name="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two columns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테마 1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테마 2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테마 3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테마 4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테마 5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theme" Target="../theme/theme1.xml"  /><Relationship Id="rId17" Type="http://schemas.openxmlformats.org/officeDocument/2006/relationships/image" Target="../media/image1.pn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rotWithShape="1">
          <a:blip r:embed="rId17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342900" algn="l" rtl="0" eaLnBrk="1" latinLnBrk="0" hangingPunct="1">
        <a:lnSpc>
          <a:spcPct val="115000"/>
        </a:lnSpc>
        <a:spcBef>
          <a:spcPts val="0"/>
        </a:spcBef>
        <a:spcAft>
          <a:spcPts val="0"/>
        </a:spcAft>
        <a:buClr>
          <a:schemeClr val="dk2"/>
        </a:buClr>
        <a:buSzPct val="100000"/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10.png"  /><Relationship Id="rId4" Type="http://schemas.openxmlformats.org/officeDocument/2006/relationships/image" Target="../media/image10.png"  /><Relationship Id="rId5" Type="http://schemas.openxmlformats.org/officeDocument/2006/relationships/image" Target="../media/image10.png"  /><Relationship Id="rId6" Type="http://schemas.openxmlformats.org/officeDocument/2006/relationships/image" Target="../media/image10.png"  /><Relationship Id="rId7" Type="http://schemas.openxmlformats.org/officeDocument/2006/relationships/image" Target="../media/image10.png"  /><Relationship Id="rId8" Type="http://schemas.openxmlformats.org/officeDocument/2006/relationships/image" Target="../media/image10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18.png"  /><Relationship Id="rId11" Type="http://schemas.openxmlformats.org/officeDocument/2006/relationships/image" Target="../media/image19.png"  /><Relationship Id="rId12" Type="http://schemas.openxmlformats.org/officeDocument/2006/relationships/image" Target="../media/image19.png"  /><Relationship Id="rId13" Type="http://schemas.openxmlformats.org/officeDocument/2006/relationships/image" Target="../media/image20.jpeg"  /><Relationship Id="rId14" Type="http://schemas.openxmlformats.org/officeDocument/2006/relationships/image" Target="../media/image21.jpeg"  /><Relationship Id="rId15" Type="http://schemas.openxmlformats.org/officeDocument/2006/relationships/image" Target="../media/image22.jpeg"  /><Relationship Id="rId16" Type="http://schemas.openxmlformats.org/officeDocument/2006/relationships/image" Target="../media/image23.jpeg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Relationship Id="rId7" Type="http://schemas.openxmlformats.org/officeDocument/2006/relationships/image" Target="../media/image15.png"  /><Relationship Id="rId8" Type="http://schemas.openxmlformats.org/officeDocument/2006/relationships/image" Target="../media/image16.png"  /><Relationship Id="rId9" Type="http://schemas.openxmlformats.org/officeDocument/2006/relationships/image" Target="../media/image1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10" Type="http://schemas.openxmlformats.org/officeDocument/2006/relationships/image" Target="../media/image31.jpeg"  /><Relationship Id="rId11" Type="http://schemas.openxmlformats.org/officeDocument/2006/relationships/image" Target="../media/image23.jpeg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26.png"  /><Relationship Id="rId6" Type="http://schemas.openxmlformats.org/officeDocument/2006/relationships/image" Target="../media/image27.png"  /><Relationship Id="rId7" Type="http://schemas.openxmlformats.org/officeDocument/2006/relationships/image" Target="../media/image28.jpeg"  /><Relationship Id="rId8" Type="http://schemas.openxmlformats.org/officeDocument/2006/relationships/image" Target="../media/image29.jpeg"  /><Relationship Id="rId9" Type="http://schemas.openxmlformats.org/officeDocument/2006/relationships/image" Target="../media/image30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3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3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3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3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3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3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4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5.xml"  /><Relationship Id="rId3" Type="http://schemas.openxmlformats.org/officeDocument/2006/relationships/hyperlink" Target="http://www.youtube.com/watch?v=CZg4cTJFEIw" TargetMode="External" /><Relationship Id="rId4" Type="http://schemas.openxmlformats.org/officeDocument/2006/relationships/image" Target="../media/image41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4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4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4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10" Type="http://schemas.openxmlformats.org/officeDocument/2006/relationships/image" Target="../media/image52.png"  /><Relationship Id="rId11" Type="http://schemas.openxmlformats.org/officeDocument/2006/relationships/image" Target="../media/image53.png"  /><Relationship Id="rId12" Type="http://schemas.openxmlformats.org/officeDocument/2006/relationships/image" Target="../media/image54.png"  /><Relationship Id="rId13" Type="http://schemas.openxmlformats.org/officeDocument/2006/relationships/image" Target="../media/image55.png"  /><Relationship Id="rId14" Type="http://schemas.openxmlformats.org/officeDocument/2006/relationships/image" Target="../media/image56.png"  /><Relationship Id="rId15" Type="http://schemas.openxmlformats.org/officeDocument/2006/relationships/image" Target="../media/image57.png"  /><Relationship Id="rId16" Type="http://schemas.openxmlformats.org/officeDocument/2006/relationships/image" Target="../media/image58.png"  /><Relationship Id="rId17" Type="http://schemas.openxmlformats.org/officeDocument/2006/relationships/image" Target="../media/image59.png"  /><Relationship Id="rId18" Type="http://schemas.openxmlformats.org/officeDocument/2006/relationships/image" Target="../media/image60.jpeg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45.png"  /><Relationship Id="rId4" Type="http://schemas.openxmlformats.org/officeDocument/2006/relationships/image" Target="../media/image46.png"  /><Relationship Id="rId5" Type="http://schemas.openxmlformats.org/officeDocument/2006/relationships/image" Target="../media/image47.png"  /><Relationship Id="rId6" Type="http://schemas.openxmlformats.org/officeDocument/2006/relationships/image" Target="../media/image48.png"  /><Relationship Id="rId7" Type="http://schemas.openxmlformats.org/officeDocument/2006/relationships/image" Target="../media/image49.png"  /><Relationship Id="rId8" Type="http://schemas.openxmlformats.org/officeDocument/2006/relationships/image" Target="../media/image50.png"  /><Relationship Id="rId9" Type="http://schemas.openxmlformats.org/officeDocument/2006/relationships/image" Target="../media/image5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61.png"  /><Relationship Id="rId6" Type="http://schemas.openxmlformats.org/officeDocument/2006/relationships/image" Target="../media/image9.png"  /><Relationship Id="rId7" Type="http://schemas.openxmlformats.org/officeDocument/2006/relationships/image" Target="../media/image62.png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" y="2571750"/>
            <a:ext cx="9153526" cy="258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563" y="285750"/>
            <a:ext cx="8520113" cy="45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9963" y="242888"/>
            <a:ext cx="12858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 txBox="1"/>
          <p:nvPr/>
        </p:nvSpPr>
        <p:spPr>
          <a:xfrm>
            <a:off x="7386638" y="381000"/>
            <a:ext cx="1161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프로젝트</a:t>
            </a:r>
            <a:endParaRPr sz="11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계획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66" name="Google Shape;66;p17"/>
          <p:cNvSpPr txBox="1"/>
          <p:nvPr/>
        </p:nvSpPr>
        <p:spPr>
          <a:xfrm>
            <a:off x="747713" y="4248150"/>
            <a:ext cx="21432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5">
            <a:spAutoFit/>
          </a:bodyPr>
          <a:lstStyle/>
          <a:p>
            <a:pPr indent="0" lvl="0" marL="0" marR="0" rtl="0" algn="l">
              <a:lnSpc>
                <a:spcPct val="1145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C2C2C"/>
                </a:solidFill>
              </a:rPr>
              <a:t>조이환</a:t>
            </a:r>
            <a:endParaRPr sz="500"/>
          </a:p>
        </p:txBody>
      </p:sp>
      <p:pic>
        <p:nvPicPr>
          <p:cNvPr id="67" name="Google Shape;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6763" y="4419600"/>
            <a:ext cx="219075" cy="20478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/>
        </p:nvSpPr>
        <p:spPr>
          <a:xfrm>
            <a:off x="747713" y="1437975"/>
            <a:ext cx="6445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325" lIns="0" spcFirstLastPara="1" rIns="0" wrap="square" tIns="60325">
            <a:sp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400">
                <a:solidFill>
                  <a:srgbClr val="4A5BA3"/>
                </a:solidFill>
              </a:rPr>
              <a:t>AutoCam Rover</a:t>
            </a:r>
            <a:endParaRPr sz="3400"/>
          </a:p>
        </p:txBody>
      </p:sp>
      <p:sp>
        <p:nvSpPr>
          <p:cNvPr id="69" name="Google Shape;69;p17"/>
          <p:cNvSpPr txBox="1"/>
          <p:nvPr/>
        </p:nvSpPr>
        <p:spPr>
          <a:xfrm>
            <a:off x="747713" y="2077200"/>
            <a:ext cx="6183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4A5BA3"/>
                </a:solidFill>
              </a:rPr>
              <a:t>이벤트 발생 위치를 찾아 촬영하는 ROS 기반 자율 카메라 로봇 </a:t>
            </a:r>
            <a:endParaRPr sz="2600"/>
          </a:p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582621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>
                <a:solidFill>
                  <a:srgbClr val="1F1F1F"/>
                </a:solidFill>
              </a:rPr>
              <a:t>‹#›</a:t>
            </a:fld>
            <a:endParaRPr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6" name="Google Shape;76;p18"/>
          <p:cNvSpPr/>
          <p:nvPr/>
        </p:nvSpPr>
        <p:spPr>
          <a:xfrm>
            <a:off x="5095088" y="1129800"/>
            <a:ext cx="1573200" cy="1608900"/>
          </a:xfrm>
          <a:prstGeom prst="ellipse">
            <a:avLst/>
          </a:prstGeom>
          <a:solidFill>
            <a:srgbClr val="D5E5FF"/>
          </a:solidFill>
          <a:ln cap="flat" cmpd="sng" w="3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8"/>
          <p:cNvSpPr/>
          <p:nvPr/>
        </p:nvSpPr>
        <p:spPr>
          <a:xfrm>
            <a:off x="6700050" y="1129800"/>
            <a:ext cx="1573200" cy="1608900"/>
          </a:xfrm>
          <a:prstGeom prst="ellipse">
            <a:avLst/>
          </a:prstGeom>
          <a:solidFill>
            <a:srgbClr val="D5E5FF"/>
          </a:solidFill>
          <a:ln cap="flat" cmpd="sng" w="3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8"/>
          <p:cNvSpPr/>
          <p:nvPr/>
        </p:nvSpPr>
        <p:spPr>
          <a:xfrm>
            <a:off x="4287806" y="2810850"/>
            <a:ext cx="1573200" cy="1608900"/>
          </a:xfrm>
          <a:prstGeom prst="ellipse">
            <a:avLst/>
          </a:prstGeom>
          <a:solidFill>
            <a:srgbClr val="D5E5FF"/>
          </a:solidFill>
          <a:ln cap="flat" cmpd="sng" w="3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8"/>
          <p:cNvSpPr/>
          <p:nvPr/>
        </p:nvSpPr>
        <p:spPr>
          <a:xfrm>
            <a:off x="5895169" y="2810850"/>
            <a:ext cx="1573200" cy="1608900"/>
          </a:xfrm>
          <a:prstGeom prst="ellipse">
            <a:avLst/>
          </a:prstGeom>
          <a:solidFill>
            <a:srgbClr val="D5E5FF"/>
          </a:solidFill>
          <a:ln cap="flat" cmpd="sng" w="3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528763"/>
            <a:ext cx="12382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/>
          <p:nvPr/>
        </p:nvSpPr>
        <p:spPr>
          <a:xfrm>
            <a:off x="3490125" y="1129800"/>
            <a:ext cx="1573200" cy="1608900"/>
          </a:xfrm>
          <a:prstGeom prst="ellipse">
            <a:avLst/>
          </a:prstGeom>
          <a:solidFill>
            <a:srgbClr val="D5E5FF"/>
          </a:solidFill>
          <a:ln cap="flat" cmpd="sng" w="3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4129088" y="1276350"/>
            <a:ext cx="290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500"/>
          </a:p>
        </p:txBody>
      </p:sp>
      <p:sp>
        <p:nvSpPr>
          <p:cNvPr id="83" name="Google Shape;83;p18"/>
          <p:cNvSpPr txBox="1"/>
          <p:nvPr/>
        </p:nvSpPr>
        <p:spPr>
          <a:xfrm>
            <a:off x="3633788" y="1628775"/>
            <a:ext cx="1285800" cy="395400"/>
          </a:xfrm>
          <a:prstGeom prst="rect">
            <a:avLst/>
          </a:prstGeom>
          <a:noFill/>
          <a:ln>
            <a:noFill/>
          </a:ln>
        </p:spPr>
        <p:txBody>
          <a:bodyPr wrap="square" lIns="0" tIns="7300" rIns="0" bIns="7300" anchor="ctr" anchorCtr="0">
            <a:noAutofit/>
          </a:bodyPr>
          <a:lstStyle/>
          <a:p>
            <a:pPr marL="0" lvl="0" indent="0" algn="ctr">
              <a:lnSpc>
                <a:spcPct val="107899"/>
              </a:lnSpc>
              <a:buNone/>
              <a:defRPr/>
            </a:pPr>
            <a:r>
              <a:rPr lang="ko" sz="1100">
                <a:solidFill>
                  <a:srgbClr val="00074e"/>
                </a:solidFill>
              </a:rPr>
              <a:t>목표</a:t>
            </a:r>
            <a:endParaRPr sz="500"/>
          </a:p>
        </p:txBody>
      </p:sp>
      <p:sp>
        <p:nvSpPr>
          <p:cNvPr id="84" name="Google Shape;84;p18"/>
          <p:cNvSpPr txBox="1"/>
          <p:nvPr/>
        </p:nvSpPr>
        <p:spPr>
          <a:xfrm>
            <a:off x="3605138" y="1984075"/>
            <a:ext cx="1343100" cy="37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285750" algn="l">
              <a:buClr>
                <a:srgbClr val="2c2c2c"/>
              </a:buClr>
              <a:buChar char="●"/>
              <a:defRPr/>
            </a:pPr>
            <a:r>
              <a:rPr lang="ko" sz="900"/>
              <a:t>프로젝</a:t>
            </a:r>
            <a:r>
              <a:rPr lang="ko" sz="1000"/>
              <a:t>트</a:t>
            </a:r>
            <a:r>
              <a:rPr lang="ko" sz="900"/>
              <a:t>의 목표</a:t>
            </a:r>
            <a:endParaRPr sz="900">
              <a:solidFill>
                <a:srgbClr val="2c2c2c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3143250"/>
            <a:ext cx="12382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4929169" y="2857538"/>
            <a:ext cx="290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</a:t>
            </a:r>
            <a:endParaRPr sz="500"/>
          </a:p>
        </p:txBody>
      </p:sp>
      <p:sp>
        <p:nvSpPr>
          <p:cNvPr id="87" name="Google Shape;87;p18"/>
          <p:cNvSpPr txBox="1"/>
          <p:nvPr/>
        </p:nvSpPr>
        <p:spPr>
          <a:xfrm>
            <a:off x="4419581" y="3209963"/>
            <a:ext cx="13146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00" lIns="0" spcFirstLastPara="1" rIns="0" wrap="square" tIns="73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구현 결과</a:t>
            </a:r>
            <a:endParaRPr sz="500"/>
          </a:p>
        </p:txBody>
      </p:sp>
      <p:sp>
        <p:nvSpPr>
          <p:cNvPr id="88" name="Google Shape;88;p18"/>
          <p:cNvSpPr txBox="1"/>
          <p:nvPr/>
        </p:nvSpPr>
        <p:spPr>
          <a:xfrm>
            <a:off x="4405294" y="3577695"/>
            <a:ext cx="1343100" cy="5037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285750" algn="l"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ROS</a:t>
            </a:r>
            <a:endParaRPr lang="ko" sz="900">
              <a:solidFill>
                <a:srgbClr val="2c2c2c"/>
              </a:solidFill>
            </a:endParaRPr>
          </a:p>
          <a:p>
            <a:pPr marL="457200" lvl="0" indent="-285750" algn="l"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DB</a:t>
            </a:r>
            <a:endParaRPr lang="ko" sz="900">
              <a:solidFill>
                <a:srgbClr val="2c2c2c"/>
              </a:solidFill>
            </a:endParaRPr>
          </a:p>
          <a:p>
            <a:pPr marL="457200" lvl="0" indent="-285750" algn="l"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Network</a:t>
            </a:r>
            <a:endParaRPr sz="900">
              <a:solidFill>
                <a:srgbClr val="2c2c2c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2563" y="1528763"/>
            <a:ext cx="12382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5734050" y="1276350"/>
            <a:ext cx="290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500"/>
          </a:p>
        </p:txBody>
      </p:sp>
      <p:sp>
        <p:nvSpPr>
          <p:cNvPr id="91" name="Google Shape;91;p18"/>
          <p:cNvSpPr txBox="1"/>
          <p:nvPr/>
        </p:nvSpPr>
        <p:spPr>
          <a:xfrm>
            <a:off x="5324475" y="1628775"/>
            <a:ext cx="1109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00" lIns="0" spcFirstLastPara="1" rIns="0" wrap="square" tIns="73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시스템 구성</a:t>
            </a:r>
            <a:endParaRPr sz="500"/>
          </a:p>
        </p:txBody>
      </p:sp>
      <p:sp>
        <p:nvSpPr>
          <p:cNvPr id="92" name="Google Shape;92;p18"/>
          <p:cNvSpPr txBox="1"/>
          <p:nvPr/>
        </p:nvSpPr>
        <p:spPr>
          <a:xfrm>
            <a:off x="5210138" y="1975583"/>
            <a:ext cx="1343100" cy="384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285750" algn="l">
              <a:buChar char="●"/>
              <a:defRPr/>
            </a:pPr>
            <a:r>
              <a:rPr lang="ko" sz="900"/>
              <a:t>시스템 구성 및 전체 아키텍처</a:t>
            </a:r>
            <a:endParaRPr sz="900">
              <a:solidFill>
                <a:srgbClr val="2c2c2c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2563" y="3143250"/>
            <a:ext cx="12382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6534131" y="2857538"/>
            <a:ext cx="290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</a:t>
            </a:r>
            <a:endParaRPr sz="500"/>
          </a:p>
        </p:txBody>
      </p:sp>
      <p:sp>
        <p:nvSpPr>
          <p:cNvPr id="95" name="Google Shape;95;p18"/>
          <p:cNvSpPr txBox="1"/>
          <p:nvPr/>
        </p:nvSpPr>
        <p:spPr>
          <a:xfrm>
            <a:off x="6124556" y="3209963"/>
            <a:ext cx="1109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00" lIns="0" spcFirstLastPara="1" rIns="0" wrap="square" tIns="73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프로젝트 결론</a:t>
            </a:r>
            <a:endParaRPr sz="500"/>
          </a:p>
        </p:txBody>
      </p:sp>
      <p:sp>
        <p:nvSpPr>
          <p:cNvPr id="96" name="Google Shape;96;p18"/>
          <p:cNvSpPr txBox="1"/>
          <p:nvPr/>
        </p:nvSpPr>
        <p:spPr>
          <a:xfrm>
            <a:off x="5860999" y="3596870"/>
            <a:ext cx="1623900" cy="384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285750" algn="l"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기능 요약 및 최종 평가</a:t>
            </a:r>
            <a:endParaRPr sz="900">
              <a:solidFill>
                <a:srgbClr val="2c2c2c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1528763"/>
            <a:ext cx="12382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7343775" y="1276350"/>
            <a:ext cx="290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500"/>
          </a:p>
        </p:txBody>
      </p:sp>
      <p:sp>
        <p:nvSpPr>
          <p:cNvPr id="99" name="Google Shape;99;p18"/>
          <p:cNvSpPr txBox="1"/>
          <p:nvPr/>
        </p:nvSpPr>
        <p:spPr>
          <a:xfrm>
            <a:off x="6934200" y="1628775"/>
            <a:ext cx="1109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00" lIns="0" spcFirstLastPara="1" rIns="0" wrap="square" tIns="73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설계</a:t>
            </a:r>
            <a:endParaRPr sz="500"/>
          </a:p>
        </p:txBody>
      </p:sp>
      <p:sp>
        <p:nvSpPr>
          <p:cNvPr id="100" name="Google Shape;100;p18"/>
          <p:cNvSpPr txBox="1"/>
          <p:nvPr/>
        </p:nvSpPr>
        <p:spPr>
          <a:xfrm>
            <a:off x="6815138" y="1998933"/>
            <a:ext cx="1343100" cy="384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285750" algn="l"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상세 동작 방식</a:t>
            </a:r>
            <a:endParaRPr sz="900">
              <a:solidFill>
                <a:srgbClr val="2c2c2c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67525" y="3143250"/>
            <a:ext cx="12382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709613" y="2305050"/>
            <a:ext cx="2405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375" lIns="0" spcFirstLastPara="1" rIns="0" wrap="square" tIns="393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3100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500"/>
          </a:p>
        </p:txBody>
      </p:sp>
      <p:sp>
        <p:nvSpPr>
          <p:cNvPr id="103" name="Google Shape;103;p18"/>
          <p:cNvSpPr txBox="1"/>
          <p:nvPr/>
        </p:nvSpPr>
        <p:spPr>
          <a:xfrm>
            <a:off x="631050" y="329806"/>
            <a:ext cx="1161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프로젝트</a:t>
            </a:r>
            <a:endParaRPr sz="11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계획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595296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>
                <a:solidFill>
                  <a:srgbClr val="1F1F1F"/>
                </a:solidFill>
              </a:rPr>
              <a:t>‹#›</a:t>
            </a:fld>
            <a:endParaRPr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rotWithShape="1"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695325" y="381000"/>
            <a:ext cx="102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0" lIns="0" spcFirstLastPara="1" rIns="0" wrap="square" tIns="5700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CHAPTER 1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100">
                <a:solidFill>
                  <a:schemeClr val="lt1"/>
                </a:solidFill>
              </a:rPr>
              <a:t>프로젝트 목표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3634275" y="-396400"/>
            <a:ext cx="652475" cy="50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3626250" y="340300"/>
            <a:ext cx="652450" cy="50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618225" y="1081750"/>
            <a:ext cx="652450" cy="501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3614188" y="1814437"/>
            <a:ext cx="652475" cy="500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1550113" y="1973538"/>
            <a:ext cx="2076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000">
                <a:solidFill>
                  <a:srgbClr val="00074E"/>
                </a:solidFill>
              </a:rPr>
              <a:t>1. </a:t>
            </a:r>
            <a:r>
              <a:rPr lang="ko" sz="1000">
                <a:solidFill>
                  <a:srgbClr val="00074E"/>
                </a:solidFill>
              </a:rPr>
              <a:t>로봇이 자율적으로 움직인다.</a:t>
            </a:r>
            <a:endParaRPr sz="1000">
              <a:solidFill>
                <a:srgbClr val="00074E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550113" y="2206900"/>
            <a:ext cx="28671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127000" lvl="1" indent="-133350" algn="l">
              <a:lnSpc>
                <a:spcPct val="141100"/>
              </a:lnSpc>
              <a:buFont typeface="Arial"/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경로 이동, 정지, 회전, 촬영 지점 대기 기능을 수행</a:t>
            </a:r>
            <a:endParaRPr sz="500"/>
          </a:p>
        </p:txBody>
      </p:sp>
      <p:sp>
        <p:nvSpPr>
          <p:cNvPr id="116" name="Google Shape;116;p19"/>
          <p:cNvSpPr txBox="1"/>
          <p:nvPr/>
        </p:nvSpPr>
        <p:spPr>
          <a:xfrm>
            <a:off x="1550113" y="2916513"/>
            <a:ext cx="30051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127000" lvl="1" indent="-133350" algn="l">
              <a:lnSpc>
                <a:spcPct val="141100"/>
              </a:lnSpc>
              <a:buFont typeface="Arial"/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사람, 장애물, 화재, 연기 등 이벤트 후보를 판별한다.</a:t>
            </a:r>
            <a:endParaRPr sz="500"/>
          </a:p>
        </p:txBody>
      </p:sp>
      <p:sp>
        <p:nvSpPr>
          <p:cNvPr id="117" name="Google Shape;117;p19"/>
          <p:cNvSpPr txBox="1"/>
          <p:nvPr/>
        </p:nvSpPr>
        <p:spPr>
          <a:xfrm>
            <a:off x="1550151" y="2702025"/>
            <a:ext cx="4804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000">
                <a:solidFill>
                  <a:srgbClr val="00074E"/>
                </a:solidFill>
              </a:rPr>
              <a:t>2. </a:t>
            </a:r>
            <a:r>
              <a:rPr lang="ko" sz="1000">
                <a:solidFill>
                  <a:srgbClr val="00074E"/>
                </a:solidFill>
              </a:rPr>
              <a:t>딥러닝 기반 객체 인식으로 위험 가능성이 있는 이벤트를 감지한다.</a:t>
            </a:r>
            <a:endParaRPr sz="1000">
              <a:solidFill>
                <a:srgbClr val="00074E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550132" y="3659474"/>
            <a:ext cx="47157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127000" lvl="1" indent="-133350" algn="l">
              <a:lnSpc>
                <a:spcPct val="141100"/>
              </a:lnSpc>
              <a:buFont typeface="Arial"/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촬영 이미지와 이벤트 정보를 전송 가능한 데이터로 구성한다.</a:t>
            </a:r>
            <a:endParaRPr sz="500"/>
          </a:p>
        </p:txBody>
      </p:sp>
      <p:sp>
        <p:nvSpPr>
          <p:cNvPr id="119" name="Google Shape;119;p19"/>
          <p:cNvSpPr txBox="1"/>
          <p:nvPr/>
        </p:nvSpPr>
        <p:spPr>
          <a:xfrm>
            <a:off x="1550150" y="3411675"/>
            <a:ext cx="5044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00074E"/>
                </a:solidFill>
              </a:rPr>
              <a:t>3. </a:t>
            </a:r>
            <a:r>
              <a:rPr lang="ko" sz="1000">
                <a:solidFill>
                  <a:srgbClr val="00074E"/>
                </a:solidFill>
              </a:rPr>
              <a:t>이벤트가 감지되면 사진과 위치·시간 정보를 서버로 전송한다.</a:t>
            </a:r>
            <a:endParaRPr sz="500"/>
          </a:p>
        </p:txBody>
      </p:sp>
      <p:sp>
        <p:nvSpPr>
          <p:cNvPr id="120" name="Google Shape;120;p19"/>
          <p:cNvSpPr txBox="1"/>
          <p:nvPr/>
        </p:nvSpPr>
        <p:spPr>
          <a:xfrm>
            <a:off x="1550136" y="4392900"/>
            <a:ext cx="45228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127000" lvl="1" indent="-133350" algn="l">
              <a:lnSpc>
                <a:spcPct val="141100"/>
              </a:lnSpc>
              <a:buFont typeface="Arial"/>
              <a:buChar char="●"/>
              <a:defRPr/>
            </a:pPr>
            <a:r>
              <a:rPr lang="ko" sz="900">
                <a:solidFill>
                  <a:srgbClr val="2c2c2c"/>
                </a:solidFill>
              </a:rPr>
              <a:t>위험도, 이벤트 종류, 분석 결과, 사진 경로를 기록한다.</a:t>
            </a:r>
            <a:endParaRPr sz="500"/>
          </a:p>
        </p:txBody>
      </p:sp>
      <p:sp>
        <p:nvSpPr>
          <p:cNvPr id="121" name="Google Shape;121;p19"/>
          <p:cNvSpPr txBox="1"/>
          <p:nvPr/>
        </p:nvSpPr>
        <p:spPr>
          <a:xfrm>
            <a:off x="1550140" y="4140325"/>
            <a:ext cx="46101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4. </a:t>
            </a:r>
            <a:r>
              <a:rPr lang="ko" sz="1000">
                <a:solidFill>
                  <a:schemeClr val="dk1"/>
                </a:solidFill>
              </a:rPr>
              <a:t>서버는 이미지를 분석하고 결과를 JSON 형태로 정리해 DB에 저장한다.</a:t>
            </a:r>
            <a:endParaRPr sz="500"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4938" y="1976438"/>
            <a:ext cx="225742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92575" y="2178850"/>
            <a:ext cx="1852613" cy="1852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92663" y="2631325"/>
            <a:ext cx="452438" cy="452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7506950" y="2436025"/>
            <a:ext cx="4287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975" lIns="0" spcFirstLastPara="1" rIns="0" wrap="square" tIns="139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sz="500"/>
          </a:p>
        </p:txBody>
      </p:sp>
      <p:sp>
        <p:nvSpPr>
          <p:cNvPr id="126" name="Google Shape;126;p19"/>
          <p:cNvSpPr txBox="1"/>
          <p:nvPr/>
        </p:nvSpPr>
        <p:spPr>
          <a:xfrm>
            <a:off x="6966475" y="3100238"/>
            <a:ext cx="15048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FFFFF"/>
                </a:solidFill>
              </a:rPr>
              <a:t>자율 순찰 중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FFFFF"/>
                </a:solidFill>
              </a:rPr>
              <a:t>위험 이벤트를 감지하고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FFFFF"/>
                </a:solidFill>
              </a:rPr>
              <a:t>사진·분석 결과를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000">
                <a:solidFill>
                  <a:srgbClr val="FFFFFF"/>
                </a:solidFill>
              </a:rPr>
              <a:t>DB에 기록하는 시스템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11">
            <a:alphaModFix amt="50000"/>
          </a:blip>
          <a:srcRect b="0" l="0" r="0" t="0"/>
          <a:stretch/>
        </p:blipFill>
        <p:spPr>
          <a:xfrm>
            <a:off x="5864925" y="2854600"/>
            <a:ext cx="29527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 rotWithShape="1">
          <a:blip r:embed="rId12">
            <a:alphaModFix amt="50000"/>
          </a:blip>
          <a:srcRect b="0" l="0" r="0" t="0"/>
          <a:stretch/>
        </p:blipFill>
        <p:spPr>
          <a:xfrm>
            <a:off x="5860163" y="3583263"/>
            <a:ext cx="29527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2127375" y="1019400"/>
            <a:ext cx="281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목표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595296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>
                <a:solidFill>
                  <a:srgbClr val="1F1F1F"/>
                </a:solidFill>
              </a:rPr>
              <a:t>‹#›</a:t>
            </a:fld>
            <a:endParaRPr>
              <a:solidFill>
                <a:srgbClr val="1F1F1F"/>
              </a:solidFill>
            </a:endParaRPr>
          </a:p>
        </p:txBody>
      </p:sp>
      <p:pic>
        <p:nvPicPr>
          <p:cNvPr descr="Robot navigation vector, Robotics related flat design icon(Getty Images 제공)" id="131" name="Google Shape;131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83600" y="1726343"/>
            <a:ext cx="652179" cy="652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uman eyeball scan reading security information for work(Getty Images 제공)" id="132" name="Google Shape;132;p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83600" y="2459962"/>
            <a:ext cx="652175" cy="65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er flat icon. Data storage blue icons in trendy flat style. Computer storage gradient style design, designed for web and app. Eps 10.(Getty Images 제공)" id="133" name="Google Shape;133;p1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83600" y="3265875"/>
            <a:ext cx="652175" cy="65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database is an icon vector. Isolated contour symbol illustration(Getty Images 제공)" id="134" name="Google Shape;134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flipH="1">
            <a:off x="785993" y="3997443"/>
            <a:ext cx="652175" cy="6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695325" y="381000"/>
            <a:ext cx="102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0" lIns="0" spcFirstLastPara="1" rIns="0" wrap="square" tIns="5700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CHAPTER 1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프로젝트 목표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350" y="2360713"/>
            <a:ext cx="690562" cy="690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8575" y="1874938"/>
            <a:ext cx="1662112" cy="166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4052900" y="2155925"/>
            <a:ext cx="3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</a:t>
            </a:r>
            <a:endParaRPr sz="500"/>
          </a:p>
        </p:txBody>
      </p:sp>
      <p:sp>
        <p:nvSpPr>
          <p:cNvPr id="143" name="Google Shape;143;p20"/>
          <p:cNvSpPr txBox="1"/>
          <p:nvPr/>
        </p:nvSpPr>
        <p:spPr>
          <a:xfrm>
            <a:off x="4705363" y="2155925"/>
            <a:ext cx="3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500"/>
          </a:p>
        </p:txBody>
      </p:sp>
      <p:sp>
        <p:nvSpPr>
          <p:cNvPr id="144" name="Google Shape;144;p20"/>
          <p:cNvSpPr txBox="1"/>
          <p:nvPr/>
        </p:nvSpPr>
        <p:spPr>
          <a:xfrm>
            <a:off x="4052900" y="2860775"/>
            <a:ext cx="3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</a:t>
            </a:r>
            <a:endParaRPr sz="500"/>
          </a:p>
        </p:txBody>
      </p:sp>
      <p:sp>
        <p:nvSpPr>
          <p:cNvPr id="145" name="Google Shape;145;p20"/>
          <p:cNvSpPr txBox="1"/>
          <p:nvPr/>
        </p:nvSpPr>
        <p:spPr>
          <a:xfrm>
            <a:off x="4710125" y="2860775"/>
            <a:ext cx="3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</a:t>
            </a:r>
            <a:endParaRPr sz="500"/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388" y="973050"/>
            <a:ext cx="981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537588" y="1006388"/>
            <a:ext cx="819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50" lIns="0" spcFirstLastPara="1" rIns="0" wrap="square" tIns="120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</a:rPr>
              <a:t>로봇 이동 제어</a:t>
            </a:r>
            <a:endParaRPr sz="500"/>
          </a:p>
        </p:txBody>
      </p:sp>
      <p:sp>
        <p:nvSpPr>
          <p:cNvPr id="148" name="Google Shape;148;p20"/>
          <p:cNvSpPr txBox="1"/>
          <p:nvPr/>
        </p:nvSpPr>
        <p:spPr>
          <a:xfrm>
            <a:off x="461410" y="1296900"/>
            <a:ext cx="40821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로봇이 정해진 구간을 이동하고, 촬영이 필요한 위치에서 정지하도록 제어한다. </a:t>
            </a:r>
            <a:endParaRPr sz="500"/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4375" y="973050"/>
            <a:ext cx="981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7790575" y="1006388"/>
            <a:ext cx="819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50" lIns="0" spcFirstLastPara="1" rIns="0" wrap="square" tIns="120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</a:rPr>
              <a:t>카메라/팔 제어</a:t>
            </a:r>
            <a:endParaRPr sz="500"/>
          </a:p>
        </p:txBody>
      </p:sp>
      <p:sp>
        <p:nvSpPr>
          <p:cNvPr id="151" name="Google Shape;151;p20"/>
          <p:cNvSpPr txBox="1"/>
          <p:nvPr/>
        </p:nvSpPr>
        <p:spPr>
          <a:xfrm>
            <a:off x="4645225" y="1244478"/>
            <a:ext cx="4021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카메라 영상을 입력받고, 이벤트 후보가 감지되면 촬영 프레임과 카메라 방향을 제어한다. </a:t>
            </a:r>
            <a:endParaRPr sz="500"/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50" y="2817863"/>
            <a:ext cx="981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532750" y="2851200"/>
            <a:ext cx="819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50" lIns="0" spcFirstLastPara="1" rIns="0" wrap="square" tIns="120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</a:rPr>
              <a:t>네트워크</a:t>
            </a:r>
            <a:endParaRPr sz="500"/>
          </a:p>
        </p:txBody>
      </p:sp>
      <p:sp>
        <p:nvSpPr>
          <p:cNvPr id="154" name="Google Shape;154;p20"/>
          <p:cNvSpPr txBox="1"/>
          <p:nvPr/>
        </p:nvSpPr>
        <p:spPr>
          <a:xfrm>
            <a:off x="456556" y="3101475"/>
            <a:ext cx="331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74E"/>
                </a:solidFill>
              </a:rPr>
              <a:t>로봇에서 생성된 이미지와 이벤트 정보를 로컬 서버로 전송하고 수신 결과를 확인한다. </a:t>
            </a:r>
            <a:endParaRPr sz="500"/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4363" y="2817875"/>
            <a:ext cx="981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7795325" y="2851213"/>
            <a:ext cx="819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50" lIns="0" spcFirstLastPara="1" rIns="0" wrap="square" tIns="120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</a:rPr>
              <a:t>데이터베이스</a:t>
            </a:r>
            <a:endParaRPr sz="500"/>
          </a:p>
        </p:txBody>
      </p:sp>
      <p:sp>
        <p:nvSpPr>
          <p:cNvPr id="157" name="Google Shape;157;p20"/>
          <p:cNvSpPr txBox="1"/>
          <p:nvPr/>
        </p:nvSpPr>
        <p:spPr>
          <a:xfrm>
            <a:off x="5377150" y="3063450"/>
            <a:ext cx="331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00074E"/>
                </a:solidFill>
              </a:rPr>
              <a:t>촬영 정보, 이벤트 정보, 분석 결과를 저장하고 조회 가능한 형태로 관리한다.</a:t>
            </a:r>
            <a:endParaRPr sz="1100">
              <a:solidFill>
                <a:srgbClr val="00074E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74E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2641113" y="309625"/>
            <a:ext cx="3781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25" lIns="0" spcFirstLastPara="1" rIns="0" wrap="square" tIns="349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>
                <a:solidFill>
                  <a:srgbClr val="00074E"/>
                </a:solidFill>
              </a:rPr>
              <a:t>4가지 핵심 목표.</a:t>
            </a:r>
            <a:endParaRPr sz="500"/>
          </a:p>
        </p:txBody>
      </p:sp>
      <p:pic>
        <p:nvPicPr>
          <p:cNvPr descr="Robot navigation vector, Robotics related flat design icon(Getty Images 제공)" id="159" name="Google Shape;15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12652" y="1631381"/>
            <a:ext cx="1105293" cy="1105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tography camera icon, blue color(Getty Images 제공)" id="160" name="Google Shape;16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9700" y="1631650"/>
            <a:ext cx="1105300" cy="11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9004150" y="-32102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camera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Robot machine solid icon, Robotization concept, Robotic hand manipulator sign on white background, Industrial mechanical robot arm icon in glyph style for mobile and web. Vector graphics.(Getty Images 제공)" id="162" name="Google Shape;16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08800" y="1631648"/>
            <a:ext cx="1105300" cy="110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twork   connection   computer(Getty Images 제공)" id="163" name="Google Shape;163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12650" y="3568450"/>
            <a:ext cx="1105300" cy="11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595296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>
                <a:solidFill>
                  <a:srgbClr val="1F1F1F"/>
                </a:solidFill>
              </a:rPr>
              <a:t>‹#›</a:t>
            </a:fld>
            <a:endParaRPr>
              <a:solidFill>
                <a:srgbClr val="1F1F1F"/>
              </a:solidFill>
            </a:endParaRPr>
          </a:p>
        </p:txBody>
      </p:sp>
      <p:pic>
        <p:nvPicPr>
          <p:cNvPr descr="the database is an icon vector. Isolated contour symbol illustration(Getty Images 제공)" id="165" name="Google Shape;165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11275" y="3568450"/>
            <a:ext cx="1105300" cy="11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2933100" y="0"/>
            <a:ext cx="3277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CHAPTER 2:</a:t>
            </a:r>
            <a:r>
              <a:rPr lang="ko" sz="1100">
                <a:solidFill>
                  <a:schemeClr val="dk1"/>
                </a:solidFill>
              </a:rPr>
              <a:t>시스템 구성 - 전체 구성도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1" name="Google Shape;171;p21" title="전체 구성도 - Ros.png"/>
          <p:cNvPicPr preferRelativeResize="0"/>
          <p:nvPr/>
        </p:nvPicPr>
        <p:blipFill rotWithShape="1">
          <a:blip r:embed="rId3">
            <a:alphaModFix/>
          </a:blip>
          <a:srcRect b="20528" l="0" r="0" t="0"/>
          <a:stretch/>
        </p:blipFill>
        <p:spPr>
          <a:xfrm>
            <a:off x="329300" y="319325"/>
            <a:ext cx="8528275" cy="45600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2933100" y="0"/>
            <a:ext cx="3277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CHAPTER 2: </a:t>
            </a:r>
            <a:r>
              <a:rPr lang="ko" sz="1100">
                <a:solidFill>
                  <a:schemeClr val="dk1"/>
                </a:solidFill>
              </a:rPr>
              <a:t>시스템 구성 - ROS </a:t>
            </a:r>
            <a:r>
              <a:rPr lang="ko" sz="1100">
                <a:solidFill>
                  <a:schemeClr val="dk1"/>
                </a:solidFill>
              </a:rPr>
              <a:t>클래스 다이어그램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179" name="Google Shape;179;p22" title="ROS_Node_cla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00" y="1359863"/>
            <a:ext cx="8364199" cy="24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2360100" y="0"/>
            <a:ext cx="4423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CHAPTER 2: </a:t>
            </a:r>
            <a:r>
              <a:rPr lang="ko" sz="1100">
                <a:solidFill>
                  <a:schemeClr val="dk1"/>
                </a:solidFill>
              </a:rPr>
              <a:t>시스템 구성 - </a:t>
            </a:r>
            <a:r>
              <a:rPr lang="ko" sz="1100">
                <a:solidFill>
                  <a:schemeClr val="dk1"/>
                </a:solidFill>
              </a:rPr>
              <a:t>서버</a:t>
            </a:r>
            <a:r>
              <a:rPr lang="ko" sz="1100">
                <a:solidFill>
                  <a:schemeClr val="dk1"/>
                </a:solidFill>
              </a:rPr>
              <a:t> 클래스 다이어그램, DB ERD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350" y="308225"/>
            <a:ext cx="3492048" cy="447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7025" y="1049347"/>
            <a:ext cx="2851274" cy="30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/>
        </p:nvSpPr>
        <p:spPr>
          <a:xfrm>
            <a:off x="2829450" y="0"/>
            <a:ext cx="3485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CHAPTER 2: </a:t>
            </a:r>
            <a:r>
              <a:rPr lang="ko" sz="1100">
                <a:solidFill>
                  <a:schemeClr val="dk1"/>
                </a:solidFill>
              </a:rPr>
              <a:t>시스템 구성 - </a:t>
            </a:r>
            <a:r>
              <a:rPr lang="ko" sz="1100">
                <a:solidFill>
                  <a:schemeClr val="dk1"/>
                </a:solidFill>
              </a:rPr>
              <a:t>전체 시퀀스</a:t>
            </a:r>
            <a:r>
              <a:rPr lang="ko" sz="1100">
                <a:solidFill>
                  <a:schemeClr val="dk1"/>
                </a:solidFill>
              </a:rPr>
              <a:t> 다이어그램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194" name="Google Shape;194;p24" title="seqeu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925" y="335850"/>
            <a:ext cx="4282147" cy="447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695325" y="381000"/>
            <a:ext cx="102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0" lIns="0" spcFirstLastPara="1" rIns="0" wrap="square" tIns="5700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CHAPTER 3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100">
                <a:solidFill>
                  <a:schemeClr val="lt1"/>
                </a:solidFill>
              </a:rPr>
              <a:t>설계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595300" y="4833900"/>
            <a:ext cx="548700" cy="3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01" name="Google Shape;201;p25" title="2. 로봇 이동 및 장애물 회피.png"/>
          <p:cNvPicPr preferRelativeResize="0"/>
          <p:nvPr/>
        </p:nvPicPr>
        <p:blipFill rotWithShape="1">
          <a:blip r:embed="rId3">
            <a:alphaModFix/>
          </a:blip>
          <a:srcRect b="0" l="2884" r="3184" t="19556"/>
          <a:stretch/>
        </p:blipFill>
        <p:spPr>
          <a:xfrm>
            <a:off x="1110575" y="1032550"/>
            <a:ext cx="6922849" cy="3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/>
          <p:nvPr/>
        </p:nvSpPr>
        <p:spPr>
          <a:xfrm>
            <a:off x="2870625" y="304950"/>
            <a:ext cx="37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1. </a:t>
            </a:r>
            <a:r>
              <a:rPr b="1" lang="ko" sz="1800">
                <a:solidFill>
                  <a:schemeClr val="dk2"/>
                </a:solidFill>
              </a:rPr>
              <a:t>로봇 이동 및 장애물 회피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/>
        </p:nvSpPr>
        <p:spPr>
          <a:xfrm>
            <a:off x="695325" y="381000"/>
            <a:ext cx="102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0" lIns="0" spcFirstLastPara="1" rIns="0" wrap="square" tIns="5700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CHAPTER 3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100">
                <a:solidFill>
                  <a:schemeClr val="lt1"/>
                </a:solidFill>
              </a:rPr>
              <a:t>설계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208" name="Google Shape;208;p26" title="1. 인식 입력 구조.png"/>
          <p:cNvPicPr preferRelativeResize="0"/>
          <p:nvPr/>
        </p:nvPicPr>
        <p:blipFill rotWithShape="1">
          <a:blip r:embed="rId3">
            <a:alphaModFix/>
          </a:blip>
          <a:srcRect b="0" l="3726" r="0" t="18871"/>
          <a:stretch/>
        </p:blipFill>
        <p:spPr>
          <a:xfrm>
            <a:off x="1024175" y="1011850"/>
            <a:ext cx="7095650" cy="33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>
            <p:ph idx="12" type="sldNum"/>
          </p:nvPr>
        </p:nvSpPr>
        <p:spPr>
          <a:xfrm>
            <a:off x="8595300" y="4801149"/>
            <a:ext cx="5487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2870625" y="304950"/>
            <a:ext cx="37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2. 객체 인식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/>
        </p:nvSpPr>
        <p:spPr>
          <a:xfrm>
            <a:off x="695325" y="381000"/>
            <a:ext cx="102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0" lIns="0" spcFirstLastPara="1" rIns="0" wrap="square" tIns="5700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CHAPTER 3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100">
                <a:solidFill>
                  <a:schemeClr val="lt1"/>
                </a:solidFill>
              </a:rPr>
              <a:t>설계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8595300" y="4801149"/>
            <a:ext cx="5487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17" name="Google Shape;217;p27" title="3. 사진 촬영 및 이벤트.png"/>
          <p:cNvPicPr preferRelativeResize="0"/>
          <p:nvPr/>
        </p:nvPicPr>
        <p:blipFill rotWithShape="1">
          <a:blip r:embed="rId3">
            <a:alphaModFix/>
          </a:blip>
          <a:srcRect b="0" l="3250" r="2809" t="14807"/>
          <a:stretch/>
        </p:blipFill>
        <p:spPr>
          <a:xfrm>
            <a:off x="1110150" y="1232725"/>
            <a:ext cx="6923702" cy="35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2870625" y="304950"/>
            <a:ext cx="37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3. 카메라 제어 흐름.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/>
        </p:nvSpPr>
        <p:spPr>
          <a:xfrm>
            <a:off x="695325" y="381000"/>
            <a:ext cx="102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0" lIns="0" spcFirstLastPara="1" rIns="0" wrap="square" tIns="5700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</a:rPr>
              <a:t>CHAPTER 3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100">
                <a:solidFill>
                  <a:schemeClr val="lt1"/>
                </a:solidFill>
              </a:rPr>
              <a:t>설계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595300" y="4801149"/>
            <a:ext cx="5487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25" name="Google Shape;225;p28" title="4. 저장 흐름..png"/>
          <p:cNvPicPr preferRelativeResize="0"/>
          <p:nvPr/>
        </p:nvPicPr>
        <p:blipFill rotWithShape="1">
          <a:blip r:embed="rId3">
            <a:alphaModFix/>
          </a:blip>
          <a:srcRect b="0" l="2386" r="2185" t="7561"/>
          <a:stretch/>
        </p:blipFill>
        <p:spPr>
          <a:xfrm>
            <a:off x="1055350" y="880725"/>
            <a:ext cx="7033301" cy="383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2870625" y="304950"/>
            <a:ext cx="37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4. 사진 분석 및 데이터 저장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/>
        </p:nvSpPr>
        <p:spPr>
          <a:xfrm>
            <a:off x="2933100" y="0"/>
            <a:ext cx="3277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구현결과 - ROS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33" name="Google Shape;233;p29" title="로봇 구동 영상딱히 편집할 게 없음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366900"/>
            <a:ext cx="8027432" cy="451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/>
        </p:nvSpPr>
        <p:spPr>
          <a:xfrm>
            <a:off x="2933100" y="0"/>
            <a:ext cx="3277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구현결과 - 서버 및 데이터 베이스.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63" y="332950"/>
            <a:ext cx="8424074" cy="416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1034625" y="2571750"/>
            <a:ext cx="135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로컬 서버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3837450" y="2385950"/>
            <a:ext cx="135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웹 뷰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6716200" y="3200950"/>
            <a:ext cx="17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로컬 </a:t>
            </a:r>
            <a:r>
              <a:rPr lang="ko" sz="1800">
                <a:solidFill>
                  <a:schemeClr val="lt1"/>
                </a:solidFill>
              </a:rPr>
              <a:t>DB 서버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/>
        </p:nvSpPr>
        <p:spPr>
          <a:xfrm>
            <a:off x="2933100" y="0"/>
            <a:ext cx="3277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구현결과 - 서버 및 데이터 베이스.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50" y="326025"/>
            <a:ext cx="8517442" cy="41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1034625" y="2571750"/>
            <a:ext cx="135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로컬 서버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3796050" y="2571750"/>
            <a:ext cx="135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웹 뷰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6716200" y="3200950"/>
            <a:ext cx="17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로컬 DB 서버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2933100" y="0"/>
            <a:ext cx="3277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구현결과 - 서버 및 데이터 베이스.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8595300" y="4841475"/>
            <a:ext cx="548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000">
                <a:solidFill>
                  <a:srgbClr val="1F1F1F"/>
                </a:solidFill>
              </a:rPr>
              <a:t>‹#›</a:t>
            </a:fld>
            <a:endParaRPr sz="1000">
              <a:solidFill>
                <a:srgbClr val="1F1F1F"/>
              </a:solidFill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75" y="326050"/>
            <a:ext cx="8424501" cy="416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/>
        </p:nvSpPr>
        <p:spPr>
          <a:xfrm>
            <a:off x="1034625" y="2571750"/>
            <a:ext cx="135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로컬 서버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3796050" y="2571750"/>
            <a:ext cx="135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웹 뷰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6716200" y="3200950"/>
            <a:ext cx="17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로컬 DB 서버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8025" y="999725"/>
            <a:ext cx="2952751" cy="295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5688" y="1347388"/>
            <a:ext cx="225742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5713" y="1547413"/>
            <a:ext cx="1852613" cy="18526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3"/>
          <p:cNvSpPr txBox="1"/>
          <p:nvPr/>
        </p:nvSpPr>
        <p:spPr>
          <a:xfrm>
            <a:off x="3728075" y="2064800"/>
            <a:ext cx="16374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자율 이동부터 이벤트 감지·촬영·기록까지 수행하는 ROS 기반 자동 순찰 데이터 수집 로봇 </a:t>
            </a:r>
            <a:r>
              <a:rPr lang="ko" sz="1100">
                <a:solidFill>
                  <a:srgbClr val="FFFFFF"/>
                </a:solidFill>
              </a:rPr>
              <a:t> </a:t>
            </a:r>
            <a:endParaRPr sz="1100">
              <a:solidFill>
                <a:srgbClr val="FFFFFF"/>
              </a:solidFill>
            </a:endParaRPr>
          </a:p>
        </p:txBody>
      </p:sp>
      <p:pic>
        <p:nvPicPr>
          <p:cNvPr id="272" name="Google Shape;27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25138" y="1309288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25138" y="3023788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9288" y="1309288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44525" y="3019025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06300" y="928288"/>
            <a:ext cx="80963" cy="13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06300" y="3881038"/>
            <a:ext cx="80963" cy="13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5982675" y="2404663"/>
            <a:ext cx="80963" cy="13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5400000">
            <a:off x="3029925" y="2404663"/>
            <a:ext cx="80963" cy="13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06113" y="3200000"/>
            <a:ext cx="357188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006113" y="1485500"/>
            <a:ext cx="357188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725500" y="1485500"/>
            <a:ext cx="357188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20738" y="3195238"/>
            <a:ext cx="35718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/>
        </p:nvSpPr>
        <p:spPr>
          <a:xfrm>
            <a:off x="1629750" y="1371200"/>
            <a:ext cx="1076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75" lIns="0" spcFirstLastPara="1" rIns="0" wrap="square" tIns="12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위험 현장 탐사</a:t>
            </a:r>
            <a:endParaRPr sz="500"/>
          </a:p>
        </p:txBody>
      </p:sp>
      <p:sp>
        <p:nvSpPr>
          <p:cNvPr id="285" name="Google Shape;285;p33"/>
          <p:cNvSpPr txBox="1"/>
          <p:nvPr/>
        </p:nvSpPr>
        <p:spPr>
          <a:xfrm>
            <a:off x="879725" y="1592052"/>
            <a:ext cx="181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900">
                <a:solidFill>
                  <a:srgbClr val="2C2C2C"/>
                </a:solidFill>
              </a:rPr>
              <a:t>사람이 직접 접근하기 어려운 위험 구역을 이동하며 화재, 연기, 장애물 등 이상 상황을 감지 </a:t>
            </a:r>
            <a:endParaRPr sz="900">
              <a:solidFill>
                <a:srgbClr val="2C2C2C"/>
              </a:solidFill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1629750" y="3080938"/>
            <a:ext cx="1076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75" lIns="0" spcFirstLastPara="1" rIns="0" wrap="square" tIns="12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자율 순찰</a:t>
            </a:r>
            <a:endParaRPr sz="500"/>
          </a:p>
        </p:txBody>
      </p:sp>
      <p:sp>
        <p:nvSpPr>
          <p:cNvPr id="287" name="Google Shape;287;p33"/>
          <p:cNvSpPr txBox="1"/>
          <p:nvPr/>
        </p:nvSpPr>
        <p:spPr>
          <a:xfrm>
            <a:off x="877213" y="3306925"/>
            <a:ext cx="18717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900">
                <a:solidFill>
                  <a:schemeClr val="dk1"/>
                </a:solidFill>
              </a:rPr>
              <a:t>정해진 구역을 반복 이동하며 이상 상황 발생 시 정지·촬영·기록을 자동 수행 </a:t>
            </a:r>
            <a:endParaRPr sz="900">
              <a:solidFill>
                <a:srgbClr val="2C2C2C"/>
              </a:solidFill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6349388" y="1371200"/>
            <a:ext cx="1057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75" lIns="0" spcFirstLastPara="1" rIns="0" wrap="square" tIns="1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데이터셋 수집</a:t>
            </a:r>
            <a:endParaRPr sz="500"/>
          </a:p>
        </p:txBody>
      </p:sp>
      <p:sp>
        <p:nvSpPr>
          <p:cNvPr id="289" name="Google Shape;289;p33"/>
          <p:cNvSpPr txBox="1"/>
          <p:nvPr/>
        </p:nvSpPr>
        <p:spPr>
          <a:xfrm>
            <a:off x="6344628" y="1571200"/>
            <a:ext cx="225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900">
                <a:solidFill>
                  <a:srgbClr val="2C2C2C"/>
                </a:solidFill>
              </a:rPr>
              <a:t>주행 중 촬영한 이미지와 위치·시간·이벤트 정보를 함께 저장하여 분석 및 학습용 데이터로 활용 </a:t>
            </a:r>
            <a:endParaRPr sz="900">
              <a:solidFill>
                <a:srgbClr val="2C2C2C"/>
              </a:solidFill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6392250" y="3080938"/>
            <a:ext cx="1057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75" lIns="0" spcFirstLastPara="1" rIns="0" wrap="square" tIns="1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추적 촬영</a:t>
            </a:r>
            <a:endParaRPr sz="500"/>
          </a:p>
        </p:txBody>
      </p:sp>
      <p:sp>
        <p:nvSpPr>
          <p:cNvPr id="291" name="Google Shape;291;p33"/>
          <p:cNvSpPr txBox="1"/>
          <p:nvPr/>
        </p:nvSpPr>
        <p:spPr>
          <a:xfrm>
            <a:off x="6392250" y="3306925"/>
            <a:ext cx="21657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900">
                <a:solidFill>
                  <a:schemeClr val="dk1"/>
                </a:solidFill>
              </a:rPr>
              <a:t>감지된 객체 방향으로 카메라를 보정하고 이벤트 장면을 중심으로 스냅샷 촬영 </a:t>
            </a:r>
            <a:endParaRPr sz="900">
              <a:solidFill>
                <a:srgbClr val="2C2C2C"/>
              </a:solidFill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2653688" y="266300"/>
            <a:ext cx="3781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25" lIns="0" spcFirstLastPara="1" rIns="0" wrap="square" tIns="3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기능 요약</a:t>
            </a:r>
            <a:endParaRPr sz="2700"/>
          </a:p>
        </p:txBody>
      </p:sp>
      <p:sp>
        <p:nvSpPr>
          <p:cNvPr id="293" name="Google Shape;293;p33"/>
          <p:cNvSpPr txBox="1"/>
          <p:nvPr/>
        </p:nvSpPr>
        <p:spPr>
          <a:xfrm>
            <a:off x="7158363" y="310100"/>
            <a:ext cx="1161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" lIns="0" spcFirstLastPara="1" rIns="0" wrap="square" tIns="6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CHAPTER 5</a:t>
            </a:r>
            <a:endParaRPr sz="11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FFFF"/>
                </a:solidFill>
              </a:rPr>
              <a:t>프로젝트 결론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1390000" y="4019150"/>
            <a:ext cx="727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결론: </a:t>
            </a:r>
            <a:r>
              <a:rPr lang="ko"/>
              <a:t>본 프로젝트는 ROS 노드, 카메라 인식, 이동 제어, 서버 업로드, DB 저장 기능을 연동하여 이벤트 발생 상황을 자동으로 탐지하고 기록하는 통합 시스템을 구현하였다. </a:t>
            </a:r>
            <a:endParaRPr/>
          </a:p>
        </p:txBody>
      </p:sp>
      <p:pic>
        <p:nvPicPr>
          <p:cNvPr descr="Contract Icon, Agreement, Deal(Getty Images 제공)" id="295" name="Google Shape;295;p3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5275" y="3872863"/>
            <a:ext cx="908175" cy="9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" y="2571750"/>
            <a:ext cx="9153526" cy="258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563" y="285750"/>
            <a:ext cx="8520113" cy="45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72300" y="209550"/>
            <a:ext cx="1414463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4"/>
          <p:cNvSpPr txBox="1"/>
          <p:nvPr/>
        </p:nvSpPr>
        <p:spPr>
          <a:xfrm>
            <a:off x="7167563" y="395288"/>
            <a:ext cx="1033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5" lIns="0" spcFirstLastPara="1" rIns="0" wrap="square" tIns="60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</a:rPr>
              <a:t>프로젝트</a:t>
            </a:r>
            <a:endParaRPr sz="9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</a:rPr>
              <a:t>계획</a:t>
            </a:r>
            <a:endParaRPr sz="900">
              <a:solidFill>
                <a:srgbClr val="FFFFFF"/>
              </a:solidFill>
            </a:endParaRPr>
          </a:p>
        </p:txBody>
      </p:sp>
      <p:pic>
        <p:nvPicPr>
          <p:cNvPr id="304" name="Google Shape;30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6763" y="4419600"/>
            <a:ext cx="219075" cy="2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" y="1028700"/>
            <a:ext cx="3086099" cy="308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4"/>
          <p:cNvSpPr txBox="1"/>
          <p:nvPr/>
        </p:nvSpPr>
        <p:spPr>
          <a:xfrm>
            <a:off x="4205288" y="1738313"/>
            <a:ext cx="3781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100" u="none" cap="none" strike="noStrike">
                <a:solidFill>
                  <a:srgbClr val="0007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You!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/>
  <ep:Paragraphs>0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2026-06-08T02:28:37.941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